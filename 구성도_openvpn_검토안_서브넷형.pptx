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4"/>
  </p:notesMasterIdLst>
  <p:sldIdLst>
    <p:sldId id="723" r:id="rId2"/>
    <p:sldId id="724" r:id="rId3"/>
  </p:sldIdLst>
  <p:sldSz cx="12192000" cy="6858000"/>
  <p:notesSz cx="9144000" cy="162575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55555"/>
    <a:srgbClr val="444444"/>
    <a:srgbClr val="125CE7"/>
    <a:srgbClr val="669DF6"/>
    <a:srgbClr val="4387F7"/>
    <a:srgbClr val="B0CEFC"/>
    <a:srgbClr val="447FEB"/>
    <a:srgbClr val="EF0F0F"/>
    <a:srgbClr val="6B9DF8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793" autoAdjust="0"/>
    <p:restoredTop sz="96311"/>
  </p:normalViewPr>
  <p:slideViewPr>
    <p:cSldViewPr snapToGrid="0" snapToObjects="1">
      <p:cViewPr varScale="1">
        <p:scale>
          <a:sx n="116" d="100"/>
          <a:sy n="116" d="100"/>
        </p:scale>
        <p:origin x="210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7203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709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854" algn="l" defTabSz="685709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709" algn="l" defTabSz="685709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563" algn="l" defTabSz="685709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417" algn="l" defTabSz="685709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271" algn="l" defTabSz="685709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126" algn="l" defTabSz="685709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399980" algn="l" defTabSz="685709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2834" algn="l" defTabSz="685709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433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843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984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35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54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912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124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212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452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307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034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940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868248F-5A9E-43A2-B8F4-7202BFDD6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C628EC-72F6-4BAE-8C49-CC7C39F8ECF8}"/>
              </a:ext>
            </a:extLst>
          </p:cNvPr>
          <p:cNvSpPr txBox="1"/>
          <p:nvPr/>
        </p:nvSpPr>
        <p:spPr>
          <a:xfrm>
            <a:off x="431800" y="203200"/>
            <a:ext cx="8890000" cy="364202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altLang="ko-KR" sz="2200" b="1">
                <a:solidFill>
                  <a:srgbClr val="2D3137"/>
                </a:solidFill>
                <a:latin typeface="Malgun Gothic" panose="020B0503020000020004" pitchFamily="50" charset="-127"/>
              </a:rPr>
              <a:t>NKS Private Zone OpenVPN Egress </a:t>
            </a:r>
            <a:r>
              <a:rPr lang="ko-KR" altLang="en-US" sz="2200" b="1">
                <a:solidFill>
                  <a:srgbClr val="2D3137"/>
                </a:solidFill>
                <a:latin typeface="Malgun Gothic" panose="020B0503020000020004" pitchFamily="50" charset="-127"/>
              </a:rPr>
              <a:t>검증 구성도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BD11286-FD92-4070-9AE0-39245D661288}"/>
              </a:ext>
            </a:extLst>
          </p:cNvPr>
          <p:cNvCxnSpPr/>
          <p:nvPr/>
        </p:nvCxnSpPr>
        <p:spPr>
          <a:xfrm>
            <a:off x="406400" y="685800"/>
            <a:ext cx="11379200" cy="0"/>
          </a:xfrm>
          <a:prstGeom prst="line">
            <a:avLst/>
          </a:prstGeom>
          <a:ln w="15240">
            <a:solidFill>
              <a:srgbClr val="B4BA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9D13F06-DB4B-46BB-AC1A-1C05A7B14B7F}"/>
              </a:ext>
            </a:extLst>
          </p:cNvPr>
          <p:cNvSpPr/>
          <p:nvPr/>
        </p:nvSpPr>
        <p:spPr>
          <a:xfrm>
            <a:off x="8077200" y="127000"/>
            <a:ext cx="3479800" cy="381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B4BA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1A2647-1A19-4442-95BC-EEEABBB51473}"/>
              </a:ext>
            </a:extLst>
          </p:cNvPr>
          <p:cNvSpPr txBox="1"/>
          <p:nvPr/>
        </p:nvSpPr>
        <p:spPr>
          <a:xfrm>
            <a:off x="8331200" y="203200"/>
            <a:ext cx="2997200" cy="210314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sv-SE" altLang="ko-KR" sz="1200">
                <a:solidFill>
                  <a:srgbClr val="585E67"/>
                </a:solidFill>
                <a:latin typeface="Malgun Gothic" panose="020B0503020000020004" pitchFamily="50" charset="-127"/>
              </a:rPr>
              <a:t>Internet / google.com / External APIs</a:t>
            </a:r>
            <a:endParaRPr lang="ko-KR" altLang="en-US" sz="1200">
              <a:solidFill>
                <a:srgbClr val="585E67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2051324-8778-4A6B-920D-B6E7BD84BBBB}"/>
              </a:ext>
            </a:extLst>
          </p:cNvPr>
          <p:cNvSpPr/>
          <p:nvPr/>
        </p:nvSpPr>
        <p:spPr>
          <a:xfrm>
            <a:off x="304800" y="1092200"/>
            <a:ext cx="7594600" cy="505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1590">
            <a:solidFill>
              <a:srgbClr val="5861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898AF8-7CF2-4E66-A7A1-B0C0391B650F}"/>
              </a:ext>
            </a:extLst>
          </p:cNvPr>
          <p:cNvSpPr txBox="1"/>
          <p:nvPr/>
        </p:nvSpPr>
        <p:spPr>
          <a:xfrm>
            <a:off x="533400" y="1270000"/>
            <a:ext cx="1905000" cy="28725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altLang="ko-KR" sz="1700" b="1">
                <a:solidFill>
                  <a:srgbClr val="585E67"/>
                </a:solidFill>
                <a:latin typeface="Malgun Gothic" panose="020B0503020000020004" pitchFamily="50" charset="-127"/>
              </a:rPr>
              <a:t>Private VPC</a:t>
            </a:r>
            <a:endParaRPr lang="ko-KR" altLang="en-US" sz="1700" b="1">
              <a:solidFill>
                <a:srgbClr val="585E67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D4CB408-54D7-47A0-B4E8-8570CBA4A9BB}"/>
              </a:ext>
            </a:extLst>
          </p:cNvPr>
          <p:cNvSpPr/>
          <p:nvPr/>
        </p:nvSpPr>
        <p:spPr>
          <a:xfrm>
            <a:off x="8128000" y="1092200"/>
            <a:ext cx="3581400" cy="505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1590">
            <a:solidFill>
              <a:srgbClr val="5861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57610D-8B69-42DC-A8F7-2338FEC64386}"/>
              </a:ext>
            </a:extLst>
          </p:cNvPr>
          <p:cNvSpPr txBox="1"/>
          <p:nvPr/>
        </p:nvSpPr>
        <p:spPr>
          <a:xfrm>
            <a:off x="8356600" y="1270000"/>
            <a:ext cx="1905000" cy="28725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altLang="ko-KR" sz="1700" b="1">
                <a:solidFill>
                  <a:srgbClr val="585E67"/>
                </a:solidFill>
                <a:latin typeface="Malgun Gothic" panose="020B0503020000020004" pitchFamily="50" charset="-127"/>
              </a:rPr>
              <a:t>Public VPC</a:t>
            </a:r>
            <a:endParaRPr lang="ko-KR" altLang="en-US" sz="1700" b="1">
              <a:solidFill>
                <a:srgbClr val="585E67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A58B7B7-705A-4AB4-8C86-3B3971885D82}"/>
              </a:ext>
            </a:extLst>
          </p:cNvPr>
          <p:cNvSpPr/>
          <p:nvPr/>
        </p:nvSpPr>
        <p:spPr>
          <a:xfrm>
            <a:off x="685800" y="1701800"/>
            <a:ext cx="1778000" cy="1219200"/>
          </a:xfrm>
          <a:prstGeom prst="roundRect">
            <a:avLst/>
          </a:prstGeom>
          <a:solidFill>
            <a:srgbClr val="F8FAFD"/>
          </a:solidFill>
          <a:ln w="17780">
            <a:solidFill>
              <a:srgbClr val="B4BA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Image 1" descr=" ">
            <a:extLst>
              <a:ext uri="{FF2B5EF4-FFF2-40B4-BE49-F238E27FC236}">
                <a16:creationId xmlns:a16="http://schemas.microsoft.com/office/drawing/2014/main" id="{F0AC5B20-3889-4842-955F-017F212841B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2082800"/>
            <a:ext cx="355600" cy="3556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B99DB43-03FA-4BD0-A506-061EEFD88D34}"/>
              </a:ext>
            </a:extLst>
          </p:cNvPr>
          <p:cNvSpPr txBox="1"/>
          <p:nvPr/>
        </p:nvSpPr>
        <p:spPr>
          <a:xfrm>
            <a:off x="1397000" y="1854200"/>
            <a:ext cx="863600" cy="42575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1300" b="1">
                <a:solidFill>
                  <a:srgbClr val="8D94A0"/>
                </a:solidFill>
                <a:latin typeface="Malgun Gothic" panose="020B0503020000020004" pitchFamily="50" charset="-127"/>
              </a:rPr>
              <a:t>CA Server
VM</a:t>
            </a:r>
            <a:endParaRPr lang="ko-KR" altLang="en-US" sz="1300" b="1">
              <a:solidFill>
                <a:srgbClr val="8D94A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EABD59-3425-42B9-A51F-3C101487FC50}"/>
              </a:ext>
            </a:extLst>
          </p:cNvPr>
          <p:cNvSpPr txBox="1"/>
          <p:nvPr/>
        </p:nvSpPr>
        <p:spPr>
          <a:xfrm>
            <a:off x="838200" y="2514600"/>
            <a:ext cx="1473200" cy="3334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1000">
                <a:solidFill>
                  <a:srgbClr val="2D3137"/>
                </a:solidFill>
                <a:latin typeface="Malgun Gothic" panose="020B0503020000020004" pitchFamily="50" charset="-127"/>
              </a:rPr>
              <a:t>Easy-RSA / CRL / Bundle</a:t>
            </a:r>
            <a:endParaRPr lang="ko-KR" altLang="en-US" sz="1000">
              <a:solidFill>
                <a:srgbClr val="2D3137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DAA0F34-6056-4EB4-B36D-C2C3AEFEBF7F}"/>
              </a:ext>
            </a:extLst>
          </p:cNvPr>
          <p:cNvSpPr/>
          <p:nvPr/>
        </p:nvSpPr>
        <p:spPr>
          <a:xfrm>
            <a:off x="2717800" y="1701800"/>
            <a:ext cx="3479800" cy="3860800"/>
          </a:xfrm>
          <a:prstGeom prst="roundRect">
            <a:avLst/>
          </a:prstGeom>
          <a:solidFill>
            <a:srgbClr val="F8FAFD"/>
          </a:solidFill>
          <a:ln w="17780">
            <a:solidFill>
              <a:srgbClr val="B4BA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FEC268-969B-4186-8B32-0C4B8C6D961E}"/>
              </a:ext>
            </a:extLst>
          </p:cNvPr>
          <p:cNvSpPr txBox="1"/>
          <p:nvPr/>
        </p:nvSpPr>
        <p:spPr>
          <a:xfrm>
            <a:off x="2946400" y="1854200"/>
            <a:ext cx="2641600" cy="256480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altLang="ko-KR" sz="1500" b="1">
                <a:solidFill>
                  <a:srgbClr val="8D94A0"/>
                </a:solidFill>
                <a:latin typeface="Malgun Gothic" panose="020B0503020000020004" pitchFamily="50" charset="-127"/>
              </a:rPr>
              <a:t>NKS Cluster (Private Zone)</a:t>
            </a:r>
            <a:endParaRPr lang="ko-KR" altLang="en-US" sz="1500" b="1">
              <a:solidFill>
                <a:srgbClr val="8D94A0"/>
              </a:solidFill>
              <a:latin typeface="Malgun Gothic" panose="020B0503020000020004" pitchFamily="50" charset="-127"/>
            </a:endParaRPr>
          </a:p>
        </p:txBody>
      </p:sp>
      <p:pic>
        <p:nvPicPr>
          <p:cNvPr id="17" name="Image 1" descr=" ">
            <a:extLst>
              <a:ext uri="{FF2B5EF4-FFF2-40B4-BE49-F238E27FC236}">
                <a16:creationId xmlns:a16="http://schemas.microsoft.com/office/drawing/2014/main" id="{DEA23A5E-39DE-4477-8085-12508F45A924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38800" y="1778000"/>
            <a:ext cx="431800" cy="431800"/>
          </a:xfrm>
          <a:prstGeom prst="rect">
            <a:avLst/>
          </a:prstGeom>
        </p:spPr>
      </p:pic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2940CCF-9FB6-497A-B126-974E21CBBCAE}"/>
              </a:ext>
            </a:extLst>
          </p:cNvPr>
          <p:cNvSpPr/>
          <p:nvPr/>
        </p:nvSpPr>
        <p:spPr>
          <a:xfrm>
            <a:off x="6375400" y="3632200"/>
            <a:ext cx="1219200" cy="1473200"/>
          </a:xfrm>
          <a:prstGeom prst="roundRect">
            <a:avLst/>
          </a:prstGeom>
          <a:solidFill>
            <a:srgbClr val="F8FAFD"/>
          </a:solidFill>
          <a:ln w="17780">
            <a:solidFill>
              <a:srgbClr val="B4BA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9" name="Image 1" descr=" ">
            <a:extLst>
              <a:ext uri="{FF2B5EF4-FFF2-40B4-BE49-F238E27FC236}">
                <a16:creationId xmlns:a16="http://schemas.microsoft.com/office/drawing/2014/main" id="{97B8D80C-EE6A-4859-8374-06A498BEF6F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07200" y="3911600"/>
            <a:ext cx="330200" cy="3302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D0CD81F-315D-4270-BF1D-4E60B310E396}"/>
              </a:ext>
            </a:extLst>
          </p:cNvPr>
          <p:cNvSpPr txBox="1"/>
          <p:nvPr/>
        </p:nvSpPr>
        <p:spPr>
          <a:xfrm>
            <a:off x="6578600" y="4318000"/>
            <a:ext cx="812800" cy="57964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8D94A0"/>
                </a:solidFill>
                <a:latin typeface="Malgun Gothic" panose="020B0503020000020004" pitchFamily="50" charset="-127"/>
              </a:rPr>
              <a:t>VPN Gateway
VM</a:t>
            </a:r>
            <a:endParaRPr lang="ko-KR" altLang="en-US" sz="1200" b="1">
              <a:solidFill>
                <a:srgbClr val="8D94A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483FB1-AFD8-46F1-9B5D-D598706F3745}"/>
              </a:ext>
            </a:extLst>
          </p:cNvPr>
          <p:cNvSpPr txBox="1"/>
          <p:nvPr/>
        </p:nvSpPr>
        <p:spPr>
          <a:xfrm>
            <a:off x="6527800" y="4749800"/>
            <a:ext cx="914400" cy="3334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1000">
                <a:solidFill>
                  <a:srgbClr val="2D3137"/>
                </a:solidFill>
                <a:latin typeface="Malgun Gothic" panose="020B0503020000020004" pitchFamily="50" charset="-127"/>
              </a:rPr>
              <a:t>OpenVPN Client</a:t>
            </a:r>
            <a:endParaRPr lang="ko-KR" altLang="en-US" sz="1000">
              <a:solidFill>
                <a:srgbClr val="2D3137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23D83C05-A8D4-47A8-B0CB-DB887FE38FD7}"/>
              </a:ext>
            </a:extLst>
          </p:cNvPr>
          <p:cNvSpPr/>
          <p:nvPr/>
        </p:nvSpPr>
        <p:spPr>
          <a:xfrm>
            <a:off x="2946400" y="2311400"/>
            <a:ext cx="3022600" cy="863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4BA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4F033B9-5FDF-4BE7-A3EB-3982DE1D88C2}"/>
              </a:ext>
            </a:extLst>
          </p:cNvPr>
          <p:cNvSpPr/>
          <p:nvPr/>
        </p:nvSpPr>
        <p:spPr>
          <a:xfrm>
            <a:off x="3149600" y="2514600"/>
            <a:ext cx="1168400" cy="330200"/>
          </a:xfrm>
          <a:prstGeom prst="rect">
            <a:avLst/>
          </a:prstGeom>
          <a:solidFill>
            <a:srgbClr val="FAFCFF"/>
          </a:solidFill>
          <a:ln w="12700">
            <a:solidFill>
              <a:srgbClr val="B4BA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0E779C-F84D-416B-A17D-AED950AFF6B7}"/>
              </a:ext>
            </a:extLst>
          </p:cNvPr>
          <p:cNvSpPr txBox="1"/>
          <p:nvPr/>
        </p:nvSpPr>
        <p:spPr>
          <a:xfrm>
            <a:off x="3276600" y="2565400"/>
            <a:ext cx="914400" cy="3334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2D3137"/>
                </a:solidFill>
                <a:latin typeface="Malgun Gothic" panose="020B0503020000020004" pitchFamily="50" charset="-127"/>
              </a:rPr>
              <a:t>Worker Node A</a:t>
            </a:r>
            <a:endParaRPr lang="ko-KR" altLang="en-US" sz="1000" b="1">
              <a:solidFill>
                <a:srgbClr val="2D3137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297DABE-EE8F-4182-9C25-4EE951D55532}"/>
              </a:ext>
            </a:extLst>
          </p:cNvPr>
          <p:cNvSpPr/>
          <p:nvPr/>
        </p:nvSpPr>
        <p:spPr>
          <a:xfrm>
            <a:off x="4470400" y="2514600"/>
            <a:ext cx="660400" cy="330200"/>
          </a:xfrm>
          <a:prstGeom prst="rect">
            <a:avLst/>
          </a:prstGeom>
          <a:solidFill>
            <a:srgbClr val="FAFCFF"/>
          </a:solidFill>
          <a:ln w="12700">
            <a:solidFill>
              <a:srgbClr val="B4BA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62FAB7-4787-4A36-A17C-B246E7B0A371}"/>
              </a:ext>
            </a:extLst>
          </p:cNvPr>
          <p:cNvSpPr txBox="1"/>
          <p:nvPr/>
        </p:nvSpPr>
        <p:spPr>
          <a:xfrm>
            <a:off x="4648200" y="2565400"/>
            <a:ext cx="3048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2D3137"/>
                </a:solidFill>
                <a:latin typeface="Malgun Gothic" panose="020B0503020000020004" pitchFamily="50" charset="-127"/>
              </a:rPr>
              <a:t>Pod</a:t>
            </a:r>
            <a:endParaRPr lang="ko-KR" altLang="en-US" sz="1000" b="1">
              <a:solidFill>
                <a:srgbClr val="2D3137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A967F1-D330-4794-B000-2B90B69FC454}"/>
              </a:ext>
            </a:extLst>
          </p:cNvPr>
          <p:cNvSpPr txBox="1"/>
          <p:nvPr/>
        </p:nvSpPr>
        <p:spPr>
          <a:xfrm>
            <a:off x="3149600" y="2895600"/>
            <a:ext cx="24130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ko-KR" altLang="en-US" sz="1100">
                <a:solidFill>
                  <a:srgbClr val="2D3137"/>
                </a:solidFill>
                <a:latin typeface="Malgun Gothic" panose="020B0503020000020004" pitchFamily="50" charset="-127"/>
              </a:rPr>
              <a:t>주 방안</a:t>
            </a:r>
            <a:r>
              <a:rPr lang="en-US" altLang="ko-KR" sz="1100">
                <a:solidFill>
                  <a:srgbClr val="2D3137"/>
                </a:solidFill>
                <a:latin typeface="Malgun Gothic" panose="020B0503020000020004" pitchFamily="50" charset="-127"/>
              </a:rPr>
              <a:t>: Node</a:t>
            </a:r>
            <a:r>
              <a:rPr lang="ko-KR" altLang="en-US" sz="1100">
                <a:solidFill>
                  <a:srgbClr val="2D3137"/>
                </a:solidFill>
                <a:latin typeface="Malgun Gothic" panose="020B0503020000020004" pitchFamily="50" charset="-127"/>
              </a:rPr>
              <a:t>에 </a:t>
            </a:r>
            <a:r>
              <a:rPr lang="en-US" altLang="ko-KR" sz="1100">
                <a:solidFill>
                  <a:srgbClr val="2D3137"/>
                </a:solidFill>
                <a:latin typeface="Malgun Gothic" panose="020B0503020000020004" pitchFamily="50" charset="-127"/>
              </a:rPr>
              <a:t>OpenVPN Client</a:t>
            </a:r>
            <a:endParaRPr lang="ko-KR" altLang="en-US" sz="1100">
              <a:solidFill>
                <a:srgbClr val="2D3137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FB1FBC2A-989E-4A8F-94BF-32BAC3086A00}"/>
              </a:ext>
            </a:extLst>
          </p:cNvPr>
          <p:cNvSpPr/>
          <p:nvPr/>
        </p:nvSpPr>
        <p:spPr>
          <a:xfrm>
            <a:off x="2946400" y="3454400"/>
            <a:ext cx="3022600" cy="939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4BA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91CCFDA-AA2B-4B0E-958F-BEE2E1C4BE2E}"/>
              </a:ext>
            </a:extLst>
          </p:cNvPr>
          <p:cNvSpPr/>
          <p:nvPr/>
        </p:nvSpPr>
        <p:spPr>
          <a:xfrm>
            <a:off x="3149600" y="3657600"/>
            <a:ext cx="1168400" cy="330200"/>
          </a:xfrm>
          <a:prstGeom prst="rect">
            <a:avLst/>
          </a:prstGeom>
          <a:solidFill>
            <a:srgbClr val="FAFCFF"/>
          </a:solidFill>
          <a:ln w="12700">
            <a:solidFill>
              <a:srgbClr val="B4BA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6443713-6760-4302-BCE6-E785CB63F565}"/>
              </a:ext>
            </a:extLst>
          </p:cNvPr>
          <p:cNvSpPr txBox="1"/>
          <p:nvPr/>
        </p:nvSpPr>
        <p:spPr>
          <a:xfrm>
            <a:off x="3276600" y="3708400"/>
            <a:ext cx="914400" cy="3334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2D3137"/>
                </a:solidFill>
                <a:latin typeface="Malgun Gothic" panose="020B0503020000020004" pitchFamily="50" charset="-127"/>
              </a:rPr>
              <a:t>Worker Node B</a:t>
            </a:r>
            <a:endParaRPr lang="ko-KR" altLang="en-US" sz="1000" b="1">
              <a:solidFill>
                <a:srgbClr val="2D3137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F779D08-0530-4D94-A8EB-DDBF47F8B225}"/>
              </a:ext>
            </a:extLst>
          </p:cNvPr>
          <p:cNvSpPr/>
          <p:nvPr/>
        </p:nvSpPr>
        <p:spPr>
          <a:xfrm>
            <a:off x="4470400" y="3657600"/>
            <a:ext cx="660400" cy="330200"/>
          </a:xfrm>
          <a:prstGeom prst="rect">
            <a:avLst/>
          </a:prstGeom>
          <a:solidFill>
            <a:srgbClr val="FAFCFF"/>
          </a:solidFill>
          <a:ln w="12700">
            <a:solidFill>
              <a:srgbClr val="B4BA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BE479DF-EFBF-4BE3-9B5F-3BD44122B9A7}"/>
              </a:ext>
            </a:extLst>
          </p:cNvPr>
          <p:cNvSpPr txBox="1"/>
          <p:nvPr/>
        </p:nvSpPr>
        <p:spPr>
          <a:xfrm>
            <a:off x="4648200" y="3708400"/>
            <a:ext cx="3048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2D3137"/>
                </a:solidFill>
                <a:latin typeface="Malgun Gothic" panose="020B0503020000020004" pitchFamily="50" charset="-127"/>
              </a:rPr>
              <a:t>Pod</a:t>
            </a:r>
            <a:endParaRPr lang="ko-KR" altLang="en-US" sz="1000" b="1">
              <a:solidFill>
                <a:srgbClr val="2D3137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37127BD-8EE3-434D-8681-A22437D33B46}"/>
              </a:ext>
            </a:extLst>
          </p:cNvPr>
          <p:cNvSpPr txBox="1"/>
          <p:nvPr/>
        </p:nvSpPr>
        <p:spPr>
          <a:xfrm>
            <a:off x="3149600" y="4038600"/>
            <a:ext cx="2413000" cy="3334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ko-KR" altLang="en-US" sz="1000">
                <a:solidFill>
                  <a:srgbClr val="2D3137"/>
                </a:solidFill>
                <a:latin typeface="Malgun Gothic" panose="020B0503020000020004" pitchFamily="50" charset="-127"/>
              </a:rPr>
              <a:t>추가 방안 </a:t>
            </a:r>
            <a:r>
              <a:rPr lang="en-US" altLang="ko-KR" sz="1000">
                <a:solidFill>
                  <a:srgbClr val="2D3137"/>
                </a:solidFill>
                <a:latin typeface="Malgun Gothic" panose="020B0503020000020004" pitchFamily="50" charset="-127"/>
              </a:rPr>
              <a:t>1: next hop = VPN Gateway VM</a:t>
            </a:r>
            <a:endParaRPr lang="ko-KR" altLang="en-US" sz="1000">
              <a:solidFill>
                <a:srgbClr val="2D3137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F213572F-3D71-43FC-A560-D5FED2E409B1}"/>
              </a:ext>
            </a:extLst>
          </p:cNvPr>
          <p:cNvSpPr/>
          <p:nvPr/>
        </p:nvSpPr>
        <p:spPr>
          <a:xfrm>
            <a:off x="2946400" y="4648200"/>
            <a:ext cx="3022600" cy="736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4BA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F7517BF-5576-4881-B661-86025D774ABB}"/>
              </a:ext>
            </a:extLst>
          </p:cNvPr>
          <p:cNvSpPr/>
          <p:nvPr/>
        </p:nvSpPr>
        <p:spPr>
          <a:xfrm>
            <a:off x="3149600" y="4851400"/>
            <a:ext cx="1168400" cy="330200"/>
          </a:xfrm>
          <a:prstGeom prst="rect">
            <a:avLst/>
          </a:prstGeom>
          <a:solidFill>
            <a:srgbClr val="FAFCFF"/>
          </a:solidFill>
          <a:ln w="12700">
            <a:solidFill>
              <a:srgbClr val="B4BA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DA20936-3AD8-4A08-9BE9-2D6DE3BD8723}"/>
              </a:ext>
            </a:extLst>
          </p:cNvPr>
          <p:cNvSpPr txBox="1"/>
          <p:nvPr/>
        </p:nvSpPr>
        <p:spPr>
          <a:xfrm>
            <a:off x="3276600" y="4902200"/>
            <a:ext cx="914400" cy="3334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2D3137"/>
                </a:solidFill>
                <a:latin typeface="Malgun Gothic" panose="020B0503020000020004" pitchFamily="50" charset="-127"/>
              </a:rPr>
              <a:t>Worker Node C</a:t>
            </a:r>
            <a:endParaRPr lang="ko-KR" altLang="en-US" sz="1000" b="1">
              <a:solidFill>
                <a:srgbClr val="2D3137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0962D54-F981-4D9A-ABFE-AB11A6AAAD93}"/>
              </a:ext>
            </a:extLst>
          </p:cNvPr>
          <p:cNvSpPr/>
          <p:nvPr/>
        </p:nvSpPr>
        <p:spPr>
          <a:xfrm>
            <a:off x="4470400" y="4851400"/>
            <a:ext cx="1270000" cy="330200"/>
          </a:xfrm>
          <a:prstGeom prst="rect">
            <a:avLst/>
          </a:prstGeom>
          <a:solidFill>
            <a:srgbClr val="FAFCFF"/>
          </a:solidFill>
          <a:ln w="12700">
            <a:solidFill>
              <a:srgbClr val="B4BA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2E03DD2-235D-4251-A17F-5F3446544007}"/>
              </a:ext>
            </a:extLst>
          </p:cNvPr>
          <p:cNvSpPr txBox="1"/>
          <p:nvPr/>
        </p:nvSpPr>
        <p:spPr>
          <a:xfrm>
            <a:off x="4597400" y="4902200"/>
            <a:ext cx="10160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2D3137"/>
                </a:solidFill>
                <a:latin typeface="Malgun Gothic" panose="020B0503020000020004" pitchFamily="50" charset="-127"/>
              </a:rPr>
              <a:t>Pod + Sidecar</a:t>
            </a:r>
            <a:endParaRPr lang="ko-KR" altLang="en-US" sz="1000" b="1">
              <a:solidFill>
                <a:srgbClr val="2D3137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BEFFEA4-05E6-4DBC-BF40-524EBF06AB98}"/>
              </a:ext>
            </a:extLst>
          </p:cNvPr>
          <p:cNvSpPr txBox="1"/>
          <p:nvPr/>
        </p:nvSpPr>
        <p:spPr>
          <a:xfrm>
            <a:off x="3149600" y="5207000"/>
            <a:ext cx="22860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ko-KR" altLang="en-US" sz="1000">
                <a:solidFill>
                  <a:srgbClr val="2D3137"/>
                </a:solidFill>
                <a:latin typeface="Malgun Gothic" panose="020B0503020000020004" pitchFamily="50" charset="-127"/>
              </a:rPr>
              <a:t>추가 방안 </a:t>
            </a:r>
            <a:r>
              <a:rPr lang="en-US" altLang="ko-KR" sz="1000">
                <a:solidFill>
                  <a:srgbClr val="2D3137"/>
                </a:solidFill>
                <a:latin typeface="Malgun Gothic" panose="020B0503020000020004" pitchFamily="50" charset="-127"/>
              </a:rPr>
              <a:t>2: Pod</a:t>
            </a:r>
            <a:r>
              <a:rPr lang="ko-KR" altLang="en-US" sz="1000">
                <a:solidFill>
                  <a:srgbClr val="2D3137"/>
                </a:solidFill>
                <a:latin typeface="Malgun Gothic" panose="020B0503020000020004" pitchFamily="50" charset="-127"/>
              </a:rPr>
              <a:t>에 </a:t>
            </a:r>
            <a:r>
              <a:rPr lang="en-US" altLang="ko-KR" sz="1000">
                <a:solidFill>
                  <a:srgbClr val="2D3137"/>
                </a:solidFill>
                <a:latin typeface="Malgun Gothic" panose="020B0503020000020004" pitchFamily="50" charset="-127"/>
              </a:rPr>
              <a:t>OpenVPN Client</a:t>
            </a:r>
            <a:endParaRPr lang="ko-KR" altLang="en-US" sz="1000">
              <a:solidFill>
                <a:srgbClr val="2D3137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CB79334D-4B9E-43AC-AEA7-BB85FAEEC933}"/>
              </a:ext>
            </a:extLst>
          </p:cNvPr>
          <p:cNvSpPr/>
          <p:nvPr/>
        </p:nvSpPr>
        <p:spPr>
          <a:xfrm>
            <a:off x="8509000" y="1701800"/>
            <a:ext cx="2819400" cy="3276600"/>
          </a:xfrm>
          <a:prstGeom prst="roundRect">
            <a:avLst/>
          </a:prstGeom>
          <a:solidFill>
            <a:srgbClr val="F8FAFD"/>
          </a:solidFill>
          <a:ln w="17780">
            <a:solidFill>
              <a:srgbClr val="B4BA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FE8454-D030-447E-94AC-2640D07C9A2A}"/>
              </a:ext>
            </a:extLst>
          </p:cNvPr>
          <p:cNvSpPr txBox="1"/>
          <p:nvPr/>
        </p:nvSpPr>
        <p:spPr>
          <a:xfrm>
            <a:off x="8737600" y="1854200"/>
            <a:ext cx="1524000" cy="256480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altLang="ko-KR" sz="1500" b="1">
                <a:solidFill>
                  <a:srgbClr val="8D94A0"/>
                </a:solidFill>
                <a:latin typeface="Malgun Gothic" panose="020B0503020000020004" pitchFamily="50" charset="-127"/>
              </a:rPr>
              <a:t>Public subnet</a:t>
            </a:r>
            <a:endParaRPr lang="ko-KR" altLang="en-US" sz="1500" b="1">
              <a:solidFill>
                <a:srgbClr val="8D94A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8AA0B1E3-6F08-491F-BA7A-CE4B24F1200A}"/>
              </a:ext>
            </a:extLst>
          </p:cNvPr>
          <p:cNvSpPr/>
          <p:nvPr/>
        </p:nvSpPr>
        <p:spPr>
          <a:xfrm>
            <a:off x="8890000" y="2235200"/>
            <a:ext cx="2082800" cy="1168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B4BA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3" name="Image 1" descr=" ">
            <a:extLst>
              <a:ext uri="{FF2B5EF4-FFF2-40B4-BE49-F238E27FC236}">
                <a16:creationId xmlns:a16="http://schemas.microsoft.com/office/drawing/2014/main" id="{322D8925-30DF-4D1F-A480-E9C60006C91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18600" y="2489200"/>
            <a:ext cx="330200" cy="33020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FAA806B4-21B1-4359-9020-2F535FA299AD}"/>
              </a:ext>
            </a:extLst>
          </p:cNvPr>
          <p:cNvSpPr txBox="1"/>
          <p:nvPr/>
        </p:nvSpPr>
        <p:spPr>
          <a:xfrm>
            <a:off x="9499600" y="2387600"/>
            <a:ext cx="1219200" cy="57964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8D94A0"/>
                </a:solidFill>
                <a:latin typeface="Malgun Gothic" panose="020B0503020000020004" pitchFamily="50" charset="-127"/>
              </a:rPr>
              <a:t>OpenVPN Server
VM</a:t>
            </a:r>
            <a:endParaRPr lang="ko-KR" altLang="en-US" sz="1200" b="1">
              <a:solidFill>
                <a:srgbClr val="8D94A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92C17FC-97C0-4B93-A344-6969BF320B37}"/>
              </a:ext>
            </a:extLst>
          </p:cNvPr>
          <p:cNvSpPr txBox="1"/>
          <p:nvPr/>
        </p:nvSpPr>
        <p:spPr>
          <a:xfrm>
            <a:off x="9169400" y="2921000"/>
            <a:ext cx="1498600" cy="3334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1000">
                <a:solidFill>
                  <a:srgbClr val="2D3137"/>
                </a:solidFill>
                <a:latin typeface="Malgun Gothic" panose="020B0503020000020004" pitchFamily="50" charset="-127"/>
              </a:rPr>
              <a:t>OpenVPN Server + SNAT</a:t>
            </a:r>
            <a:endParaRPr lang="ko-KR" altLang="en-US" sz="1000">
              <a:solidFill>
                <a:srgbClr val="2D3137"/>
              </a:solidFill>
              <a:latin typeface="Malgun Gothic" panose="020B0503020000020004" pitchFamily="50" charset="-127"/>
            </a:endParaRPr>
          </a:p>
        </p:txBody>
      </p:sp>
      <p:pic>
        <p:nvPicPr>
          <p:cNvPr id="46" name="Image 4" descr=" ">
            <a:extLst>
              <a:ext uri="{FF2B5EF4-FFF2-40B4-BE49-F238E27FC236}">
                <a16:creationId xmlns:a16="http://schemas.microsoft.com/office/drawing/2014/main" id="{D9E783C4-EA96-4A79-869C-6FCCB42002D6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48799" y="3810000"/>
            <a:ext cx="736600" cy="73660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211C6436-37FE-447A-AC40-E29F91B7D604}"/>
              </a:ext>
            </a:extLst>
          </p:cNvPr>
          <p:cNvSpPr txBox="1"/>
          <p:nvPr/>
        </p:nvSpPr>
        <p:spPr>
          <a:xfrm>
            <a:off x="9144000" y="4521200"/>
            <a:ext cx="13208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1000">
                <a:solidFill>
                  <a:srgbClr val="2D3137"/>
                </a:solidFill>
                <a:latin typeface="Malgun Gothic" panose="020B0503020000020004" pitchFamily="50" charset="-127"/>
              </a:rPr>
              <a:t>Internet Gateway</a:t>
            </a:r>
            <a:endParaRPr lang="ko-KR" altLang="en-US" sz="1000">
              <a:solidFill>
                <a:srgbClr val="2D3137"/>
              </a:solidFill>
              <a:latin typeface="Malgun Gothic" panose="020B0503020000020004" pitchFamily="50" charset="-127"/>
            </a:endParaRPr>
          </a:p>
        </p:txBody>
      </p:sp>
      <p:pic>
        <p:nvPicPr>
          <p:cNvPr id="48" name="Image 2" descr=" ">
            <a:extLst>
              <a:ext uri="{FF2B5EF4-FFF2-40B4-BE49-F238E27FC236}">
                <a16:creationId xmlns:a16="http://schemas.microsoft.com/office/drawing/2014/main" id="{B49509A7-0062-41A2-9850-B3403FE9CCA3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626600" y="5130800"/>
            <a:ext cx="355600" cy="355600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6F825DA9-828D-46D4-854E-0F4DA249E7A2}"/>
              </a:ext>
            </a:extLst>
          </p:cNvPr>
          <p:cNvSpPr txBox="1"/>
          <p:nvPr/>
        </p:nvSpPr>
        <p:spPr>
          <a:xfrm>
            <a:off x="9093200" y="5511800"/>
            <a:ext cx="1422400" cy="3334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1000">
                <a:solidFill>
                  <a:srgbClr val="585E67"/>
                </a:solidFill>
                <a:latin typeface="Malgun Gothic" panose="020B0503020000020004" pitchFamily="50" charset="-127"/>
              </a:rPr>
              <a:t>Admin Bastion
(optional)</a:t>
            </a:r>
            <a:endParaRPr lang="ko-KR" altLang="en-US" sz="1000">
              <a:solidFill>
                <a:srgbClr val="585E67"/>
              </a:solidFill>
              <a:latin typeface="Malgun Gothic" panose="020B0503020000020004" pitchFamily="50" charset="-127"/>
            </a:endParaRPr>
          </a:p>
        </p:txBody>
      </p:sp>
      <p:pic>
        <p:nvPicPr>
          <p:cNvPr id="50" name="Image 10" descr=" ">
            <a:extLst>
              <a:ext uri="{FF2B5EF4-FFF2-40B4-BE49-F238E27FC236}">
                <a16:creationId xmlns:a16="http://schemas.microsoft.com/office/drawing/2014/main" id="{4D25CAD0-EE0F-4016-B19D-C368E3F1D8B9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47000" y="3454400"/>
            <a:ext cx="304800" cy="30480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A851E312-DD7A-40F3-BED4-2EAEA857FE5D}"/>
              </a:ext>
            </a:extLst>
          </p:cNvPr>
          <p:cNvSpPr txBox="1"/>
          <p:nvPr/>
        </p:nvSpPr>
        <p:spPr>
          <a:xfrm>
            <a:off x="7594600" y="3276600"/>
            <a:ext cx="6096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1000">
                <a:solidFill>
                  <a:srgbClr val="585E67"/>
                </a:solidFill>
                <a:latin typeface="Malgun Gothic" panose="020B0503020000020004" pitchFamily="50" charset="-127"/>
              </a:rPr>
              <a:t>Peering</a:t>
            </a:r>
            <a:endParaRPr lang="ko-KR" altLang="en-US" sz="1000">
              <a:solidFill>
                <a:srgbClr val="585E67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5FA23CC6-0C34-42FD-9A9A-C95B164B9B25}"/>
              </a:ext>
            </a:extLst>
          </p:cNvPr>
          <p:cNvCxnSpPr/>
          <p:nvPr/>
        </p:nvCxnSpPr>
        <p:spPr>
          <a:xfrm>
            <a:off x="7594600" y="3606800"/>
            <a:ext cx="914400" cy="0"/>
          </a:xfrm>
          <a:prstGeom prst="line">
            <a:avLst/>
          </a:prstGeom>
          <a:ln w="22860">
            <a:solidFill>
              <a:srgbClr val="585E6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A1935832-F5C0-47C6-AE7C-72A4D816DC3C}"/>
              </a:ext>
            </a:extLst>
          </p:cNvPr>
          <p:cNvCxnSpPr/>
          <p:nvPr/>
        </p:nvCxnSpPr>
        <p:spPr>
          <a:xfrm>
            <a:off x="5969000" y="2717800"/>
            <a:ext cx="2921000" cy="0"/>
          </a:xfrm>
          <a:prstGeom prst="line">
            <a:avLst/>
          </a:prstGeom>
          <a:ln w="30480">
            <a:solidFill>
              <a:srgbClr val="F37E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0E28CD6C-408B-4DBB-BB85-3AF58A2CEB3D}"/>
              </a:ext>
            </a:extLst>
          </p:cNvPr>
          <p:cNvSpPr txBox="1"/>
          <p:nvPr/>
        </p:nvSpPr>
        <p:spPr>
          <a:xfrm>
            <a:off x="6959600" y="2514600"/>
            <a:ext cx="5334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1100" b="1">
                <a:solidFill>
                  <a:srgbClr val="F37E20"/>
                </a:solidFill>
                <a:latin typeface="Malgun Gothic" panose="020B0503020000020004" pitchFamily="50" charset="-127"/>
              </a:rPr>
              <a:t>NG-A</a:t>
            </a:r>
            <a:endParaRPr lang="ko-KR" altLang="en-US" sz="1100" b="1">
              <a:solidFill>
                <a:srgbClr val="F37E20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0EA050F6-CA5C-4A92-AA51-D852A66FD908}"/>
              </a:ext>
            </a:extLst>
          </p:cNvPr>
          <p:cNvCxnSpPr/>
          <p:nvPr/>
        </p:nvCxnSpPr>
        <p:spPr>
          <a:xfrm>
            <a:off x="5969000" y="3822700"/>
            <a:ext cx="406400" cy="546100"/>
          </a:xfrm>
          <a:prstGeom prst="line">
            <a:avLst/>
          </a:prstGeom>
          <a:ln w="30480">
            <a:solidFill>
              <a:srgbClr val="206B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F613967F-14A8-4502-9B82-3070BC0A8B48}"/>
              </a:ext>
            </a:extLst>
          </p:cNvPr>
          <p:cNvCxnSpPr/>
          <p:nvPr/>
        </p:nvCxnSpPr>
        <p:spPr>
          <a:xfrm flipV="1">
            <a:off x="7594600" y="2819400"/>
            <a:ext cx="1295400" cy="1549400"/>
          </a:xfrm>
          <a:prstGeom prst="line">
            <a:avLst/>
          </a:prstGeom>
          <a:ln w="30480">
            <a:solidFill>
              <a:srgbClr val="206B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5908C3D4-81D3-42BE-AB5D-D1A8EA960D1F}"/>
              </a:ext>
            </a:extLst>
          </p:cNvPr>
          <p:cNvSpPr txBox="1"/>
          <p:nvPr/>
        </p:nvSpPr>
        <p:spPr>
          <a:xfrm>
            <a:off x="6527800" y="3708400"/>
            <a:ext cx="9906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206BFF"/>
                </a:solidFill>
                <a:latin typeface="Malgun Gothic" panose="020B0503020000020004" pitchFamily="50" charset="-127"/>
              </a:rPr>
              <a:t>NG-B route</a:t>
            </a:r>
            <a:endParaRPr lang="ko-KR" altLang="en-US" sz="1000" b="1">
              <a:solidFill>
                <a:srgbClr val="206BFF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E2010CDA-F398-4BFB-94D7-C6D3BC87D4BB}"/>
              </a:ext>
            </a:extLst>
          </p:cNvPr>
          <p:cNvCxnSpPr/>
          <p:nvPr/>
        </p:nvCxnSpPr>
        <p:spPr>
          <a:xfrm flipV="1">
            <a:off x="5969000" y="3149600"/>
            <a:ext cx="2921000" cy="1866900"/>
          </a:xfrm>
          <a:prstGeom prst="line">
            <a:avLst/>
          </a:prstGeom>
          <a:ln w="30480">
            <a:solidFill>
              <a:srgbClr val="2AA65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76ADCEC7-CF7C-4FAB-A331-77AFCA3D919F}"/>
              </a:ext>
            </a:extLst>
          </p:cNvPr>
          <p:cNvSpPr txBox="1"/>
          <p:nvPr/>
        </p:nvSpPr>
        <p:spPr>
          <a:xfrm>
            <a:off x="6959600" y="5130800"/>
            <a:ext cx="5334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1100" b="1">
                <a:solidFill>
                  <a:srgbClr val="2AA65F"/>
                </a:solidFill>
                <a:latin typeface="Malgun Gothic" panose="020B0503020000020004" pitchFamily="50" charset="-127"/>
              </a:rPr>
              <a:t>NG-C</a:t>
            </a:r>
            <a:endParaRPr lang="ko-KR" altLang="en-US" sz="1100" b="1">
              <a:solidFill>
                <a:srgbClr val="2AA65F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1ECFA93E-8A66-43D8-BADE-EF547A1763C6}"/>
              </a:ext>
            </a:extLst>
          </p:cNvPr>
          <p:cNvCxnSpPr/>
          <p:nvPr/>
        </p:nvCxnSpPr>
        <p:spPr>
          <a:xfrm>
            <a:off x="9931400" y="3403600"/>
            <a:ext cx="0" cy="406400"/>
          </a:xfrm>
          <a:prstGeom prst="line">
            <a:avLst/>
          </a:prstGeom>
          <a:ln w="22860">
            <a:solidFill>
              <a:srgbClr val="2D313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C27FEA46-0750-4B7A-A265-12873C0D4994}"/>
              </a:ext>
            </a:extLst>
          </p:cNvPr>
          <p:cNvCxnSpPr/>
          <p:nvPr/>
        </p:nvCxnSpPr>
        <p:spPr>
          <a:xfrm flipV="1">
            <a:off x="9931400" y="1727200"/>
            <a:ext cx="0" cy="2082800"/>
          </a:xfrm>
          <a:prstGeom prst="line">
            <a:avLst/>
          </a:prstGeom>
          <a:ln w="22860">
            <a:solidFill>
              <a:srgbClr val="2D313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00729E09-8AF2-4733-98BE-20DFD662E4F9}"/>
              </a:ext>
            </a:extLst>
          </p:cNvPr>
          <p:cNvSpPr txBox="1"/>
          <p:nvPr/>
        </p:nvSpPr>
        <p:spPr>
          <a:xfrm>
            <a:off x="584200" y="5689600"/>
            <a:ext cx="70104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ko-KR" altLang="en-US" sz="900">
                <a:solidFill>
                  <a:srgbClr val="2D3137"/>
                </a:solidFill>
                <a:latin typeface="Malgun Gothic" panose="020B0503020000020004" pitchFamily="50" charset="-127"/>
              </a:rPr>
              <a:t>검증 포인트</a:t>
            </a:r>
            <a:r>
              <a:rPr lang="en-US" altLang="ko-KR" sz="900">
                <a:solidFill>
                  <a:srgbClr val="2D3137"/>
                </a:solidFill>
                <a:latin typeface="Malgun Gothic" panose="020B0503020000020004" pitchFamily="50" charset="-127"/>
              </a:rPr>
              <a:t>: NG-A</a:t>
            </a:r>
            <a:r>
              <a:rPr lang="ko-KR" altLang="en-US" sz="900">
                <a:solidFill>
                  <a:srgbClr val="2D3137"/>
                </a:solidFill>
                <a:latin typeface="Malgun Gothic" panose="020B0503020000020004" pitchFamily="50" charset="-127"/>
              </a:rPr>
              <a:t>는 각 </a:t>
            </a:r>
            <a:r>
              <a:rPr lang="en-US" altLang="ko-KR" sz="900">
                <a:solidFill>
                  <a:srgbClr val="2D3137"/>
                </a:solidFill>
                <a:latin typeface="Malgun Gothic" panose="020B0503020000020004" pitchFamily="50" charset="-127"/>
              </a:rPr>
              <a:t>node</a:t>
            </a:r>
            <a:r>
              <a:rPr lang="ko-KR" altLang="en-US" sz="900">
                <a:solidFill>
                  <a:srgbClr val="2D3137"/>
                </a:solidFill>
                <a:latin typeface="Malgun Gothic" panose="020B0503020000020004" pitchFamily="50" charset="-127"/>
              </a:rPr>
              <a:t>가 </a:t>
            </a:r>
            <a:r>
              <a:rPr lang="en-US" altLang="ko-KR" sz="900">
                <a:solidFill>
                  <a:srgbClr val="2D3137"/>
                </a:solidFill>
                <a:latin typeface="Malgun Gothic" panose="020B0503020000020004" pitchFamily="50" charset="-127"/>
              </a:rPr>
              <a:t>client, NG-B</a:t>
            </a:r>
            <a:r>
              <a:rPr lang="ko-KR" altLang="en-US" sz="900">
                <a:solidFill>
                  <a:srgbClr val="2D3137"/>
                </a:solidFill>
                <a:latin typeface="Malgun Gothic" panose="020B0503020000020004" pitchFamily="50" charset="-127"/>
              </a:rPr>
              <a:t>는 </a:t>
            </a:r>
            <a:r>
              <a:rPr lang="en-US" altLang="ko-KR" sz="900">
                <a:solidFill>
                  <a:srgbClr val="2D3137"/>
                </a:solidFill>
                <a:latin typeface="Malgun Gothic" panose="020B0503020000020004" pitchFamily="50" charset="-127"/>
              </a:rPr>
              <a:t>node egress</a:t>
            </a:r>
            <a:r>
              <a:rPr lang="ko-KR" altLang="en-US" sz="900">
                <a:solidFill>
                  <a:srgbClr val="2D3137"/>
                </a:solidFill>
                <a:latin typeface="Malgun Gothic" panose="020B0503020000020004" pitchFamily="50" charset="-127"/>
              </a:rPr>
              <a:t>가 </a:t>
            </a:r>
            <a:r>
              <a:rPr lang="en-US" altLang="ko-KR" sz="900">
                <a:solidFill>
                  <a:srgbClr val="2D3137"/>
                </a:solidFill>
                <a:latin typeface="Malgun Gothic" panose="020B0503020000020004" pitchFamily="50" charset="-127"/>
              </a:rPr>
              <a:t>VPN Gateway VM</a:t>
            </a:r>
            <a:r>
              <a:rPr lang="ko-KR" altLang="en-US" sz="900">
                <a:solidFill>
                  <a:srgbClr val="2D3137"/>
                </a:solidFill>
                <a:latin typeface="Malgun Gothic" panose="020B0503020000020004" pitchFamily="50" charset="-127"/>
              </a:rPr>
              <a:t>을 </a:t>
            </a:r>
            <a:r>
              <a:rPr lang="en-US" altLang="ko-KR" sz="900">
                <a:solidFill>
                  <a:srgbClr val="2D3137"/>
                </a:solidFill>
                <a:latin typeface="Malgun Gothic" panose="020B0503020000020004" pitchFamily="50" charset="-127"/>
              </a:rPr>
              <a:t>next hop</a:t>
            </a:r>
            <a:r>
              <a:rPr lang="ko-KR" altLang="en-US" sz="900">
                <a:solidFill>
                  <a:srgbClr val="2D3137"/>
                </a:solidFill>
                <a:latin typeface="Malgun Gothic" panose="020B0503020000020004" pitchFamily="50" charset="-127"/>
              </a:rPr>
              <a:t>으로 사용</a:t>
            </a:r>
            <a:r>
              <a:rPr lang="en-US" altLang="ko-KR" sz="900">
                <a:solidFill>
                  <a:srgbClr val="2D3137"/>
                </a:solidFill>
                <a:latin typeface="Malgun Gothic" panose="020B0503020000020004" pitchFamily="50" charset="-127"/>
              </a:rPr>
              <a:t>, NG-C</a:t>
            </a:r>
            <a:r>
              <a:rPr lang="ko-KR" altLang="en-US" sz="900">
                <a:solidFill>
                  <a:srgbClr val="2D3137"/>
                </a:solidFill>
                <a:latin typeface="Malgun Gothic" panose="020B0503020000020004" pitchFamily="50" charset="-127"/>
              </a:rPr>
              <a:t>는 </a:t>
            </a:r>
            <a:r>
              <a:rPr lang="en-US" altLang="ko-KR" sz="900">
                <a:solidFill>
                  <a:srgbClr val="2D3137"/>
                </a:solidFill>
                <a:latin typeface="Malgun Gothic" panose="020B0503020000020004" pitchFamily="50" charset="-127"/>
              </a:rPr>
              <a:t>Pod sidecar </a:t>
            </a:r>
            <a:r>
              <a:rPr lang="ko-KR" altLang="en-US" sz="900">
                <a:solidFill>
                  <a:srgbClr val="2D3137"/>
                </a:solidFill>
                <a:latin typeface="Malgun Gothic" panose="020B0503020000020004" pitchFamily="50" charset="-127"/>
              </a:rPr>
              <a:t>방식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92DE1B6-BA5E-41FC-9FB5-E4AC99BF9962}"/>
              </a:ext>
            </a:extLst>
          </p:cNvPr>
          <p:cNvSpPr txBox="1"/>
          <p:nvPr/>
        </p:nvSpPr>
        <p:spPr>
          <a:xfrm>
            <a:off x="8356600" y="6019800"/>
            <a:ext cx="3098800" cy="302647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ko-KR" altLang="en-US" sz="900">
                <a:solidFill>
                  <a:srgbClr val="2D3137"/>
                </a:solidFill>
                <a:latin typeface="Malgun Gothic" panose="020B0503020000020004" pitchFamily="50" charset="-127"/>
              </a:rPr>
              <a:t>모든 경로의 최종 인터넷 출구는 </a:t>
            </a:r>
            <a:r>
              <a:rPr lang="en-US" altLang="ko-KR" sz="900">
                <a:solidFill>
                  <a:srgbClr val="2D3137"/>
                </a:solidFill>
                <a:latin typeface="Malgun Gothic" panose="020B0503020000020004" pitchFamily="50" charset="-127"/>
              </a:rPr>
              <a:t>Public VPC</a:t>
            </a:r>
            <a:r>
              <a:rPr lang="ko-KR" altLang="en-US" sz="900">
                <a:solidFill>
                  <a:srgbClr val="2D3137"/>
                </a:solidFill>
                <a:latin typeface="Malgun Gothic" panose="020B0503020000020004" pitchFamily="50" charset="-127"/>
              </a:rPr>
              <a:t>의 </a:t>
            </a:r>
            <a:r>
              <a:rPr lang="en-US" altLang="ko-KR" sz="900">
                <a:solidFill>
                  <a:srgbClr val="2D3137"/>
                </a:solidFill>
                <a:latin typeface="Malgun Gothic" panose="020B0503020000020004" pitchFamily="50" charset="-127"/>
              </a:rPr>
              <a:t>OpenVPN Server VM</a:t>
            </a:r>
            <a:endParaRPr lang="ko-KR" altLang="en-US" sz="900">
              <a:solidFill>
                <a:srgbClr val="2D3137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2954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51F200E-7B01-46B8-9328-974A88E52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F86A60-23C1-4F92-A404-EC70AC8D1748}"/>
              </a:ext>
            </a:extLst>
          </p:cNvPr>
          <p:cNvSpPr txBox="1"/>
          <p:nvPr/>
        </p:nvSpPr>
        <p:spPr>
          <a:xfrm>
            <a:off x="431800" y="203200"/>
            <a:ext cx="9652000" cy="34881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altLang="ko-KR" sz="2100" b="1">
                <a:solidFill>
                  <a:srgbClr val="2D3137"/>
                </a:solidFill>
                <a:latin typeface="Malgun Gothic" panose="020B0503020000020004" pitchFamily="50" charset="-127"/>
              </a:rPr>
              <a:t>NKS Private Zone OpenVPN Egress </a:t>
            </a:r>
            <a:r>
              <a:rPr lang="ko-KR" altLang="en-US" sz="2100" b="1">
                <a:solidFill>
                  <a:srgbClr val="2D3137"/>
                </a:solidFill>
                <a:latin typeface="Malgun Gothic" panose="020B0503020000020004" pitchFamily="50" charset="-127"/>
              </a:rPr>
              <a:t>검증 구성도 </a:t>
            </a:r>
            <a:r>
              <a:rPr lang="en-US" altLang="ko-KR" sz="2100" b="1">
                <a:solidFill>
                  <a:srgbClr val="2D3137"/>
                </a:solidFill>
                <a:latin typeface="Malgun Gothic" panose="020B0503020000020004" pitchFamily="50" charset="-127"/>
              </a:rPr>
              <a:t>(VPC / Subnet </a:t>
            </a:r>
            <a:r>
              <a:rPr lang="ko-KR" altLang="en-US" sz="2100" b="1">
                <a:solidFill>
                  <a:srgbClr val="2D3137"/>
                </a:solidFill>
                <a:latin typeface="Malgun Gothic" panose="020B0503020000020004" pitchFamily="50" charset="-127"/>
              </a:rPr>
              <a:t>형태</a:t>
            </a:r>
            <a:r>
              <a:rPr lang="en-US" altLang="ko-KR" sz="2100" b="1">
                <a:solidFill>
                  <a:srgbClr val="2D3137"/>
                </a:solidFill>
                <a:latin typeface="Malgun Gothic" panose="020B0503020000020004" pitchFamily="50" charset="-127"/>
              </a:rPr>
              <a:t>)</a:t>
            </a:r>
            <a:endParaRPr lang="ko-KR" altLang="en-US" sz="2100" b="1">
              <a:solidFill>
                <a:srgbClr val="2D3137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D07C516-B33A-4988-990F-63336AFED0FA}"/>
              </a:ext>
            </a:extLst>
          </p:cNvPr>
          <p:cNvCxnSpPr/>
          <p:nvPr/>
        </p:nvCxnSpPr>
        <p:spPr>
          <a:xfrm>
            <a:off x="406400" y="685800"/>
            <a:ext cx="11379200" cy="0"/>
          </a:xfrm>
          <a:prstGeom prst="line">
            <a:avLst/>
          </a:prstGeom>
          <a:ln w="15240">
            <a:solidFill>
              <a:srgbClr val="B4BA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F9C5F22-8AF0-4E94-827B-490CF92FDDD4}"/>
              </a:ext>
            </a:extLst>
          </p:cNvPr>
          <p:cNvSpPr/>
          <p:nvPr/>
        </p:nvSpPr>
        <p:spPr>
          <a:xfrm>
            <a:off x="8178800" y="127000"/>
            <a:ext cx="3378200" cy="381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B4BA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78D27C-8462-4346-BF13-803D02AC36A9}"/>
              </a:ext>
            </a:extLst>
          </p:cNvPr>
          <p:cNvSpPr txBox="1"/>
          <p:nvPr/>
        </p:nvSpPr>
        <p:spPr>
          <a:xfrm>
            <a:off x="8407400" y="203200"/>
            <a:ext cx="2921000" cy="210314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sv-SE" altLang="ko-KR" sz="1200">
                <a:solidFill>
                  <a:srgbClr val="585E67"/>
                </a:solidFill>
                <a:latin typeface="Malgun Gothic" panose="020B0503020000020004" pitchFamily="50" charset="-127"/>
              </a:rPr>
              <a:t>Internet / google.com / External APIs</a:t>
            </a:r>
            <a:endParaRPr lang="ko-KR" altLang="en-US" sz="1200">
              <a:solidFill>
                <a:srgbClr val="585E67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8206B19-D3E3-4FCD-B1A5-437DF8A83DFB}"/>
              </a:ext>
            </a:extLst>
          </p:cNvPr>
          <p:cNvSpPr/>
          <p:nvPr/>
        </p:nvSpPr>
        <p:spPr>
          <a:xfrm>
            <a:off x="304800" y="1092200"/>
            <a:ext cx="7620000" cy="505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1590">
            <a:solidFill>
              <a:srgbClr val="5861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591475-08B7-4FF5-A369-83F8AF18F8D9}"/>
              </a:ext>
            </a:extLst>
          </p:cNvPr>
          <p:cNvSpPr txBox="1"/>
          <p:nvPr/>
        </p:nvSpPr>
        <p:spPr>
          <a:xfrm>
            <a:off x="533400" y="1270000"/>
            <a:ext cx="1905000" cy="28725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altLang="ko-KR" sz="1700" b="1">
                <a:solidFill>
                  <a:srgbClr val="585E67"/>
                </a:solidFill>
                <a:latin typeface="Malgun Gothic" panose="020B0503020000020004" pitchFamily="50" charset="-127"/>
              </a:rPr>
              <a:t>Private VPC</a:t>
            </a:r>
            <a:endParaRPr lang="ko-KR" altLang="en-US" sz="1700" b="1">
              <a:solidFill>
                <a:srgbClr val="585E67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D83BCBB-7BDD-476F-9B48-258000A2C7E6}"/>
              </a:ext>
            </a:extLst>
          </p:cNvPr>
          <p:cNvSpPr/>
          <p:nvPr/>
        </p:nvSpPr>
        <p:spPr>
          <a:xfrm>
            <a:off x="8128000" y="1092200"/>
            <a:ext cx="3581400" cy="505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1590">
            <a:solidFill>
              <a:srgbClr val="5861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8D6090-E9E3-4C4F-90F1-3B8FCC43A0F3}"/>
              </a:ext>
            </a:extLst>
          </p:cNvPr>
          <p:cNvSpPr txBox="1"/>
          <p:nvPr/>
        </p:nvSpPr>
        <p:spPr>
          <a:xfrm>
            <a:off x="8356600" y="1270000"/>
            <a:ext cx="1905000" cy="28725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altLang="ko-KR" sz="1700" b="1">
                <a:solidFill>
                  <a:srgbClr val="585E67"/>
                </a:solidFill>
                <a:latin typeface="Malgun Gothic" panose="020B0503020000020004" pitchFamily="50" charset="-127"/>
              </a:rPr>
              <a:t>Public VPC</a:t>
            </a:r>
            <a:endParaRPr lang="ko-KR" altLang="en-US" sz="1700" b="1">
              <a:solidFill>
                <a:srgbClr val="585E67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960F1C0-CBF6-4DAE-B7C0-5BEA49B2C3C1}"/>
              </a:ext>
            </a:extLst>
          </p:cNvPr>
          <p:cNvSpPr/>
          <p:nvPr/>
        </p:nvSpPr>
        <p:spPr>
          <a:xfrm>
            <a:off x="660400" y="1727200"/>
            <a:ext cx="1930400" cy="3810000"/>
          </a:xfrm>
          <a:prstGeom prst="roundRect">
            <a:avLst/>
          </a:prstGeom>
          <a:solidFill>
            <a:srgbClr val="F3F7FC"/>
          </a:solidFill>
          <a:ln w="17145">
            <a:solidFill>
              <a:srgbClr val="B4BA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6D97F7-A031-4CCA-9632-EA39B147EA4B}"/>
              </a:ext>
            </a:extLst>
          </p:cNvPr>
          <p:cNvSpPr txBox="1"/>
          <p:nvPr/>
        </p:nvSpPr>
        <p:spPr>
          <a:xfrm>
            <a:off x="863600" y="1879600"/>
            <a:ext cx="1397000" cy="241092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altLang="ko-KR" sz="1400" b="1">
                <a:solidFill>
                  <a:srgbClr val="8D94A0"/>
                </a:solidFill>
                <a:latin typeface="Malgun Gothic" panose="020B0503020000020004" pitchFamily="50" charset="-127"/>
              </a:rPr>
              <a:t>Private subnet</a:t>
            </a:r>
            <a:endParaRPr lang="ko-KR" altLang="en-US" sz="1400" b="1">
              <a:solidFill>
                <a:srgbClr val="8D94A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749F3D-98A0-4EF6-A9A2-4AA14546D347}"/>
              </a:ext>
            </a:extLst>
          </p:cNvPr>
          <p:cNvSpPr txBox="1"/>
          <p:nvPr/>
        </p:nvSpPr>
        <p:spPr>
          <a:xfrm>
            <a:off x="863600" y="2082800"/>
            <a:ext cx="13970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altLang="ko-KR" sz="1000">
                <a:solidFill>
                  <a:srgbClr val="8D94A0"/>
                </a:solidFill>
                <a:latin typeface="Malgun Gothic" panose="020B0503020000020004" pitchFamily="50" charset="-127"/>
              </a:rPr>
              <a:t>(Ops / PKI)</a:t>
            </a:r>
            <a:endParaRPr lang="ko-KR" altLang="en-US" sz="1000">
              <a:solidFill>
                <a:srgbClr val="8D94A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15025B8-0A90-45CE-A0DA-5503337ED926}"/>
              </a:ext>
            </a:extLst>
          </p:cNvPr>
          <p:cNvSpPr/>
          <p:nvPr/>
        </p:nvSpPr>
        <p:spPr>
          <a:xfrm>
            <a:off x="889000" y="2514600"/>
            <a:ext cx="1498600" cy="1244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4BA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Image 1" descr=" ">
            <a:extLst>
              <a:ext uri="{FF2B5EF4-FFF2-40B4-BE49-F238E27FC236}">
                <a16:creationId xmlns:a16="http://schemas.microsoft.com/office/drawing/2014/main" id="{DF70AF94-427E-4FD1-B033-B1107E06510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400" y="2870200"/>
            <a:ext cx="304800" cy="3048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239D04F-0FC0-49AA-967C-8CF81CB3E15C}"/>
              </a:ext>
            </a:extLst>
          </p:cNvPr>
          <p:cNvSpPr txBox="1"/>
          <p:nvPr/>
        </p:nvSpPr>
        <p:spPr>
          <a:xfrm>
            <a:off x="1447800" y="2692400"/>
            <a:ext cx="685800" cy="57964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8D94A0"/>
                </a:solidFill>
                <a:latin typeface="Malgun Gothic" panose="020B0503020000020004" pitchFamily="50" charset="-127"/>
              </a:rPr>
              <a:t>CA Server
VM</a:t>
            </a:r>
            <a:endParaRPr lang="ko-KR" altLang="en-US" sz="1200" b="1">
              <a:solidFill>
                <a:srgbClr val="8D94A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1BED4D-4F76-441B-8986-74CC66B0E0A0}"/>
              </a:ext>
            </a:extLst>
          </p:cNvPr>
          <p:cNvSpPr txBox="1"/>
          <p:nvPr/>
        </p:nvSpPr>
        <p:spPr>
          <a:xfrm>
            <a:off x="1016000" y="3276600"/>
            <a:ext cx="12192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1000">
                <a:solidFill>
                  <a:srgbClr val="2D3137"/>
                </a:solidFill>
                <a:latin typeface="Malgun Gothic" panose="020B0503020000020004" pitchFamily="50" charset="-127"/>
              </a:rPr>
              <a:t>Easy-RSA / CRL</a:t>
            </a:r>
            <a:endParaRPr lang="ko-KR" altLang="en-US" sz="1000">
              <a:solidFill>
                <a:srgbClr val="2D3137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17A8043-34E6-4745-B7DA-2DD9E1125FAD}"/>
              </a:ext>
            </a:extLst>
          </p:cNvPr>
          <p:cNvSpPr/>
          <p:nvPr/>
        </p:nvSpPr>
        <p:spPr>
          <a:xfrm>
            <a:off x="2844800" y="1727200"/>
            <a:ext cx="4775200" cy="3810000"/>
          </a:xfrm>
          <a:prstGeom prst="roundRect">
            <a:avLst/>
          </a:prstGeom>
          <a:solidFill>
            <a:srgbClr val="F3F7FC"/>
          </a:solidFill>
          <a:ln w="17145">
            <a:solidFill>
              <a:srgbClr val="B4BA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BFD4CE-B6E6-4AFC-A408-438318B64481}"/>
              </a:ext>
            </a:extLst>
          </p:cNvPr>
          <p:cNvSpPr txBox="1"/>
          <p:nvPr/>
        </p:nvSpPr>
        <p:spPr>
          <a:xfrm>
            <a:off x="3048000" y="1879600"/>
            <a:ext cx="1600200" cy="241092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altLang="ko-KR" sz="1400" b="1">
                <a:solidFill>
                  <a:srgbClr val="8D94A0"/>
                </a:solidFill>
                <a:latin typeface="Malgun Gothic" panose="020B0503020000020004" pitchFamily="50" charset="-127"/>
              </a:rPr>
              <a:t>Private subnet</a:t>
            </a:r>
            <a:endParaRPr lang="ko-KR" altLang="en-US" sz="1400" b="1">
              <a:solidFill>
                <a:srgbClr val="8D94A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8879BE-25BC-408B-BEA1-DF0EA27ECD38}"/>
              </a:ext>
            </a:extLst>
          </p:cNvPr>
          <p:cNvSpPr txBox="1"/>
          <p:nvPr/>
        </p:nvSpPr>
        <p:spPr>
          <a:xfrm>
            <a:off x="3048000" y="2082800"/>
            <a:ext cx="16002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altLang="ko-KR" sz="1000">
                <a:solidFill>
                  <a:srgbClr val="8D94A0"/>
                </a:solidFill>
                <a:latin typeface="Malgun Gothic" panose="020B0503020000020004" pitchFamily="50" charset="-127"/>
              </a:rPr>
              <a:t>(NKS / Egress)</a:t>
            </a:r>
            <a:endParaRPr lang="ko-KR" altLang="en-US" sz="1000">
              <a:solidFill>
                <a:srgbClr val="8D94A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CB12CF04-C618-4ED1-9B78-3F2CBEBBCB83}"/>
              </a:ext>
            </a:extLst>
          </p:cNvPr>
          <p:cNvSpPr/>
          <p:nvPr/>
        </p:nvSpPr>
        <p:spPr>
          <a:xfrm>
            <a:off x="3073400" y="2362200"/>
            <a:ext cx="3276600" cy="2921000"/>
          </a:xfrm>
          <a:prstGeom prst="roundRect">
            <a:avLst/>
          </a:prstGeom>
          <a:solidFill>
            <a:srgbClr val="F8FAFD"/>
          </a:solidFill>
          <a:ln w="15240">
            <a:solidFill>
              <a:srgbClr val="B4BA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A661CB-DD64-4AC4-9111-9BE58C0543AD}"/>
              </a:ext>
            </a:extLst>
          </p:cNvPr>
          <p:cNvSpPr txBox="1"/>
          <p:nvPr/>
        </p:nvSpPr>
        <p:spPr>
          <a:xfrm>
            <a:off x="3276600" y="2514600"/>
            <a:ext cx="2489200" cy="241092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altLang="ko-KR" sz="1400" b="1">
                <a:solidFill>
                  <a:srgbClr val="8D94A0"/>
                </a:solidFill>
                <a:latin typeface="Malgun Gothic" panose="020B0503020000020004" pitchFamily="50" charset="-127"/>
              </a:rPr>
              <a:t>NKS Cluster (Private Zone)</a:t>
            </a:r>
            <a:endParaRPr lang="ko-KR" altLang="en-US" sz="1400" b="1">
              <a:solidFill>
                <a:srgbClr val="8D94A0"/>
              </a:solidFill>
              <a:latin typeface="Malgun Gothic" panose="020B0503020000020004" pitchFamily="50" charset="-127"/>
            </a:endParaRPr>
          </a:p>
        </p:txBody>
      </p:sp>
      <p:pic>
        <p:nvPicPr>
          <p:cNvPr id="23" name="Image 1" descr=" ">
            <a:extLst>
              <a:ext uri="{FF2B5EF4-FFF2-40B4-BE49-F238E27FC236}">
                <a16:creationId xmlns:a16="http://schemas.microsoft.com/office/drawing/2014/main" id="{43BDE948-478E-4BF3-8707-B7DC38D93268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40400" y="2438400"/>
            <a:ext cx="381000" cy="381000"/>
          </a:xfrm>
          <a:prstGeom prst="rect">
            <a:avLst/>
          </a:prstGeom>
        </p:spPr>
      </p:pic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391BACB8-6CF5-4DB9-B6B5-745FF3C7F2A8}"/>
              </a:ext>
            </a:extLst>
          </p:cNvPr>
          <p:cNvSpPr/>
          <p:nvPr/>
        </p:nvSpPr>
        <p:spPr>
          <a:xfrm>
            <a:off x="6527800" y="3302000"/>
            <a:ext cx="914400" cy="1397000"/>
          </a:xfrm>
          <a:prstGeom prst="roundRect">
            <a:avLst/>
          </a:prstGeom>
          <a:solidFill>
            <a:srgbClr val="F8FAFD"/>
          </a:solidFill>
          <a:ln w="15240">
            <a:solidFill>
              <a:srgbClr val="B4BA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" name="Image 1" descr=" ">
            <a:extLst>
              <a:ext uri="{FF2B5EF4-FFF2-40B4-BE49-F238E27FC236}">
                <a16:creationId xmlns:a16="http://schemas.microsoft.com/office/drawing/2014/main" id="{D5C62B61-A8FA-4A12-8552-FC07E735999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81800" y="3581400"/>
            <a:ext cx="279400" cy="2794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DB890F6-D178-47DB-AEC9-385F3C83E21A}"/>
              </a:ext>
            </a:extLst>
          </p:cNvPr>
          <p:cNvSpPr txBox="1"/>
          <p:nvPr/>
        </p:nvSpPr>
        <p:spPr>
          <a:xfrm>
            <a:off x="6654800" y="3987800"/>
            <a:ext cx="635000" cy="48731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8D94A0"/>
                </a:solidFill>
                <a:latin typeface="Malgun Gothic" panose="020B0503020000020004" pitchFamily="50" charset="-127"/>
              </a:rPr>
              <a:t>VPN Gateway
VM</a:t>
            </a:r>
            <a:endParaRPr lang="ko-KR" altLang="en-US" sz="1000" b="1">
              <a:solidFill>
                <a:srgbClr val="8D94A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DD158D3-33C9-403C-B234-946DDA155A4A}"/>
              </a:ext>
            </a:extLst>
          </p:cNvPr>
          <p:cNvSpPr txBox="1"/>
          <p:nvPr/>
        </p:nvSpPr>
        <p:spPr>
          <a:xfrm>
            <a:off x="6629400" y="4394200"/>
            <a:ext cx="685800" cy="302647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900">
                <a:solidFill>
                  <a:srgbClr val="2D3137"/>
                </a:solidFill>
                <a:latin typeface="Malgun Gothic" panose="020B0503020000020004" pitchFamily="50" charset="-127"/>
              </a:rPr>
              <a:t>OVPN Client</a:t>
            </a:r>
            <a:endParaRPr lang="ko-KR" altLang="en-US" sz="900">
              <a:solidFill>
                <a:srgbClr val="2D3137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6897D8D4-5971-40E1-BB0E-4428E5E30F9B}"/>
              </a:ext>
            </a:extLst>
          </p:cNvPr>
          <p:cNvSpPr/>
          <p:nvPr/>
        </p:nvSpPr>
        <p:spPr>
          <a:xfrm>
            <a:off x="3251200" y="2971800"/>
            <a:ext cx="2895600" cy="635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4BA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DBAEE60-98D2-4CE3-AFBF-DDA852A87C21}"/>
              </a:ext>
            </a:extLst>
          </p:cNvPr>
          <p:cNvSpPr/>
          <p:nvPr/>
        </p:nvSpPr>
        <p:spPr>
          <a:xfrm>
            <a:off x="3429000" y="3136900"/>
            <a:ext cx="965200" cy="254000"/>
          </a:xfrm>
          <a:prstGeom prst="rect">
            <a:avLst/>
          </a:prstGeom>
          <a:solidFill>
            <a:srgbClr val="FAFCFF"/>
          </a:solidFill>
          <a:ln w="11430">
            <a:solidFill>
              <a:srgbClr val="B4BA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0ED71E4-75DB-4383-83A0-C89042C1A495}"/>
              </a:ext>
            </a:extLst>
          </p:cNvPr>
          <p:cNvSpPr txBox="1"/>
          <p:nvPr/>
        </p:nvSpPr>
        <p:spPr>
          <a:xfrm>
            <a:off x="3556000" y="3175000"/>
            <a:ext cx="7112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900" b="1">
                <a:solidFill>
                  <a:srgbClr val="2D3137"/>
                </a:solidFill>
                <a:latin typeface="Malgun Gothic" panose="020B0503020000020004" pitchFamily="50" charset="-127"/>
              </a:rPr>
              <a:t>Worker A</a:t>
            </a:r>
            <a:endParaRPr lang="ko-KR" altLang="en-US" sz="900" b="1">
              <a:solidFill>
                <a:srgbClr val="2D3137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2852B3F-FB06-46CB-A188-2C9BD8F5CC5F}"/>
              </a:ext>
            </a:extLst>
          </p:cNvPr>
          <p:cNvSpPr/>
          <p:nvPr/>
        </p:nvSpPr>
        <p:spPr>
          <a:xfrm>
            <a:off x="4546600" y="3136900"/>
            <a:ext cx="533400" cy="254000"/>
          </a:xfrm>
          <a:prstGeom prst="rect">
            <a:avLst/>
          </a:prstGeom>
          <a:solidFill>
            <a:srgbClr val="FAFCFF"/>
          </a:solidFill>
          <a:ln w="11430">
            <a:solidFill>
              <a:srgbClr val="B4BA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F64FE65-B108-459F-A653-0074A17E4E98}"/>
              </a:ext>
            </a:extLst>
          </p:cNvPr>
          <p:cNvSpPr txBox="1"/>
          <p:nvPr/>
        </p:nvSpPr>
        <p:spPr>
          <a:xfrm>
            <a:off x="4686300" y="3175000"/>
            <a:ext cx="254000" cy="302647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900" b="1">
                <a:solidFill>
                  <a:srgbClr val="2D3137"/>
                </a:solidFill>
                <a:latin typeface="Malgun Gothic" panose="020B0503020000020004" pitchFamily="50" charset="-127"/>
              </a:rPr>
              <a:t>Pod</a:t>
            </a:r>
            <a:endParaRPr lang="ko-KR" altLang="en-US" sz="900" b="1">
              <a:solidFill>
                <a:srgbClr val="2D3137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843EF3-794A-4559-90A1-42CDB35229BA}"/>
              </a:ext>
            </a:extLst>
          </p:cNvPr>
          <p:cNvSpPr txBox="1"/>
          <p:nvPr/>
        </p:nvSpPr>
        <p:spPr>
          <a:xfrm>
            <a:off x="3429000" y="3390900"/>
            <a:ext cx="2286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altLang="ko-KR" sz="900">
                <a:solidFill>
                  <a:srgbClr val="2D3137"/>
                </a:solidFill>
                <a:latin typeface="Malgun Gothic" panose="020B0503020000020004" pitchFamily="50" charset="-127"/>
              </a:rPr>
              <a:t>NG-A: node</a:t>
            </a:r>
            <a:r>
              <a:rPr lang="ko-KR" altLang="en-US" sz="900">
                <a:solidFill>
                  <a:srgbClr val="2D3137"/>
                </a:solidFill>
                <a:latin typeface="Malgun Gothic" panose="020B0503020000020004" pitchFamily="50" charset="-127"/>
              </a:rPr>
              <a:t>에 </a:t>
            </a:r>
            <a:r>
              <a:rPr lang="en-US" altLang="ko-KR" sz="900">
                <a:solidFill>
                  <a:srgbClr val="2D3137"/>
                </a:solidFill>
                <a:latin typeface="Malgun Gothic" panose="020B0503020000020004" pitchFamily="50" charset="-127"/>
              </a:rPr>
              <a:t>OpenVPN client</a:t>
            </a:r>
            <a:endParaRPr lang="ko-KR" altLang="en-US" sz="900">
              <a:solidFill>
                <a:srgbClr val="2D3137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FF285D1A-7055-43C2-9C30-AF5F507E9634}"/>
              </a:ext>
            </a:extLst>
          </p:cNvPr>
          <p:cNvSpPr/>
          <p:nvPr/>
        </p:nvSpPr>
        <p:spPr>
          <a:xfrm>
            <a:off x="3251200" y="3810000"/>
            <a:ext cx="2895600" cy="635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4BA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A6A5253-CAA0-4A97-8C72-FE09855449F1}"/>
              </a:ext>
            </a:extLst>
          </p:cNvPr>
          <p:cNvSpPr/>
          <p:nvPr/>
        </p:nvSpPr>
        <p:spPr>
          <a:xfrm>
            <a:off x="3429000" y="3975100"/>
            <a:ext cx="965200" cy="254000"/>
          </a:xfrm>
          <a:prstGeom prst="rect">
            <a:avLst/>
          </a:prstGeom>
          <a:solidFill>
            <a:srgbClr val="FAFCFF"/>
          </a:solidFill>
          <a:ln w="11430">
            <a:solidFill>
              <a:srgbClr val="B4BA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7C90440-7568-4EC1-B63C-DE6E65550C66}"/>
              </a:ext>
            </a:extLst>
          </p:cNvPr>
          <p:cNvSpPr txBox="1"/>
          <p:nvPr/>
        </p:nvSpPr>
        <p:spPr>
          <a:xfrm>
            <a:off x="3556000" y="4013200"/>
            <a:ext cx="7112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900" b="1">
                <a:solidFill>
                  <a:srgbClr val="2D3137"/>
                </a:solidFill>
                <a:latin typeface="Malgun Gothic" panose="020B0503020000020004" pitchFamily="50" charset="-127"/>
              </a:rPr>
              <a:t>Worker B</a:t>
            </a:r>
            <a:endParaRPr lang="ko-KR" altLang="en-US" sz="900" b="1">
              <a:solidFill>
                <a:srgbClr val="2D3137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0946C75-6438-4375-B4BF-AB94698040A0}"/>
              </a:ext>
            </a:extLst>
          </p:cNvPr>
          <p:cNvSpPr/>
          <p:nvPr/>
        </p:nvSpPr>
        <p:spPr>
          <a:xfrm>
            <a:off x="4546600" y="3975100"/>
            <a:ext cx="533400" cy="254000"/>
          </a:xfrm>
          <a:prstGeom prst="rect">
            <a:avLst/>
          </a:prstGeom>
          <a:solidFill>
            <a:srgbClr val="FAFCFF"/>
          </a:solidFill>
          <a:ln w="11430">
            <a:solidFill>
              <a:srgbClr val="B4BA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275B8D-DC0D-45D4-8A23-D5BF1ADC8BD9}"/>
              </a:ext>
            </a:extLst>
          </p:cNvPr>
          <p:cNvSpPr txBox="1"/>
          <p:nvPr/>
        </p:nvSpPr>
        <p:spPr>
          <a:xfrm>
            <a:off x="4686300" y="4013200"/>
            <a:ext cx="254000" cy="302647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900" b="1">
                <a:solidFill>
                  <a:srgbClr val="2D3137"/>
                </a:solidFill>
                <a:latin typeface="Malgun Gothic" panose="020B0503020000020004" pitchFamily="50" charset="-127"/>
              </a:rPr>
              <a:t>Pod</a:t>
            </a:r>
            <a:endParaRPr lang="ko-KR" altLang="en-US" sz="900" b="1">
              <a:solidFill>
                <a:srgbClr val="2D3137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DEF31E6-8AEB-4253-A0A4-B0ECCF569C6F}"/>
              </a:ext>
            </a:extLst>
          </p:cNvPr>
          <p:cNvSpPr txBox="1"/>
          <p:nvPr/>
        </p:nvSpPr>
        <p:spPr>
          <a:xfrm>
            <a:off x="3429000" y="4229100"/>
            <a:ext cx="23114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altLang="ko-KR" sz="900">
                <a:solidFill>
                  <a:srgbClr val="2D3137"/>
                </a:solidFill>
                <a:latin typeface="Malgun Gothic" panose="020B0503020000020004" pitchFamily="50" charset="-127"/>
              </a:rPr>
              <a:t>NG-B: next hop = VPN Gateway VM</a:t>
            </a:r>
            <a:endParaRPr lang="ko-KR" altLang="en-US" sz="900">
              <a:solidFill>
                <a:srgbClr val="2D3137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A9CBA88C-B275-48C6-A87B-196B84BACC96}"/>
              </a:ext>
            </a:extLst>
          </p:cNvPr>
          <p:cNvSpPr/>
          <p:nvPr/>
        </p:nvSpPr>
        <p:spPr>
          <a:xfrm>
            <a:off x="3251200" y="4648200"/>
            <a:ext cx="2895600" cy="482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4BA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56F9BF6-037A-4EEA-9BAB-AE29BEB00916}"/>
              </a:ext>
            </a:extLst>
          </p:cNvPr>
          <p:cNvSpPr/>
          <p:nvPr/>
        </p:nvSpPr>
        <p:spPr>
          <a:xfrm>
            <a:off x="3429000" y="4775200"/>
            <a:ext cx="965200" cy="228600"/>
          </a:xfrm>
          <a:prstGeom prst="rect">
            <a:avLst/>
          </a:prstGeom>
          <a:solidFill>
            <a:srgbClr val="FAFCFF"/>
          </a:solidFill>
          <a:ln w="11430">
            <a:solidFill>
              <a:srgbClr val="B4BA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88BFDEC-EFA7-40B0-BF4D-94210A5AF535}"/>
              </a:ext>
            </a:extLst>
          </p:cNvPr>
          <p:cNvSpPr txBox="1"/>
          <p:nvPr/>
        </p:nvSpPr>
        <p:spPr>
          <a:xfrm>
            <a:off x="3556000" y="4813300"/>
            <a:ext cx="7112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900" b="1">
                <a:solidFill>
                  <a:srgbClr val="2D3137"/>
                </a:solidFill>
                <a:latin typeface="Malgun Gothic" panose="020B0503020000020004" pitchFamily="50" charset="-127"/>
              </a:rPr>
              <a:t>Worker C</a:t>
            </a:r>
            <a:endParaRPr lang="ko-KR" altLang="en-US" sz="900" b="1">
              <a:solidFill>
                <a:srgbClr val="2D3137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ED3FCE32-FD25-41B1-A632-4AA109B1F6D3}"/>
              </a:ext>
            </a:extLst>
          </p:cNvPr>
          <p:cNvSpPr/>
          <p:nvPr/>
        </p:nvSpPr>
        <p:spPr>
          <a:xfrm>
            <a:off x="4546600" y="4775200"/>
            <a:ext cx="1041400" cy="228600"/>
          </a:xfrm>
          <a:prstGeom prst="rect">
            <a:avLst/>
          </a:prstGeom>
          <a:solidFill>
            <a:srgbClr val="FAFCFF"/>
          </a:solidFill>
          <a:ln w="11430">
            <a:solidFill>
              <a:srgbClr val="B4BA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8600493-BA5F-45DB-8269-BAAC4FF42D86}"/>
              </a:ext>
            </a:extLst>
          </p:cNvPr>
          <p:cNvSpPr txBox="1"/>
          <p:nvPr/>
        </p:nvSpPr>
        <p:spPr>
          <a:xfrm>
            <a:off x="4724400" y="4813300"/>
            <a:ext cx="685800" cy="302647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900" b="1">
                <a:solidFill>
                  <a:srgbClr val="2D3137"/>
                </a:solidFill>
                <a:latin typeface="Malgun Gothic" panose="020B0503020000020004" pitchFamily="50" charset="-127"/>
              </a:rPr>
              <a:t>Pod+Sidecar</a:t>
            </a:r>
            <a:endParaRPr lang="ko-KR" altLang="en-US" sz="900" b="1">
              <a:solidFill>
                <a:srgbClr val="2D3137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39BC6EC-36B8-4F70-B89E-90AF257030C3}"/>
              </a:ext>
            </a:extLst>
          </p:cNvPr>
          <p:cNvSpPr txBox="1"/>
          <p:nvPr/>
        </p:nvSpPr>
        <p:spPr>
          <a:xfrm>
            <a:off x="3429000" y="4978400"/>
            <a:ext cx="2159000" cy="148759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altLang="ko-KR" sz="800">
                <a:solidFill>
                  <a:srgbClr val="2D3137"/>
                </a:solidFill>
                <a:latin typeface="Malgun Gothic" panose="020B0503020000020004" pitchFamily="50" charset="-127"/>
              </a:rPr>
              <a:t>NG-C: pod</a:t>
            </a:r>
            <a:r>
              <a:rPr lang="ko-KR" altLang="en-US" sz="800">
                <a:solidFill>
                  <a:srgbClr val="2D3137"/>
                </a:solidFill>
                <a:latin typeface="Malgun Gothic" panose="020B0503020000020004" pitchFamily="50" charset="-127"/>
              </a:rPr>
              <a:t>에 </a:t>
            </a:r>
            <a:r>
              <a:rPr lang="en-US" altLang="ko-KR" sz="800">
                <a:solidFill>
                  <a:srgbClr val="2D3137"/>
                </a:solidFill>
                <a:latin typeface="Malgun Gothic" panose="020B0503020000020004" pitchFamily="50" charset="-127"/>
              </a:rPr>
              <a:t>OpenVPN client</a:t>
            </a:r>
            <a:endParaRPr lang="ko-KR" altLang="en-US" sz="800">
              <a:solidFill>
                <a:srgbClr val="2D3137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5027F417-4739-47EB-9CF1-118D06E20C8A}"/>
              </a:ext>
            </a:extLst>
          </p:cNvPr>
          <p:cNvSpPr/>
          <p:nvPr/>
        </p:nvSpPr>
        <p:spPr>
          <a:xfrm>
            <a:off x="8483600" y="1727200"/>
            <a:ext cx="2870200" cy="2819400"/>
          </a:xfrm>
          <a:prstGeom prst="roundRect">
            <a:avLst/>
          </a:prstGeom>
          <a:solidFill>
            <a:srgbClr val="F3F7FC"/>
          </a:solidFill>
          <a:ln w="17145">
            <a:solidFill>
              <a:srgbClr val="B4BA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FEBEF8E-E166-4051-9C8F-EF2DF3E11279}"/>
              </a:ext>
            </a:extLst>
          </p:cNvPr>
          <p:cNvSpPr txBox="1"/>
          <p:nvPr/>
        </p:nvSpPr>
        <p:spPr>
          <a:xfrm>
            <a:off x="8686800" y="1879600"/>
            <a:ext cx="1397000" cy="241092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altLang="ko-KR" sz="1400" b="1">
                <a:solidFill>
                  <a:srgbClr val="8D94A0"/>
                </a:solidFill>
                <a:latin typeface="Malgun Gothic" panose="020B0503020000020004" pitchFamily="50" charset="-127"/>
              </a:rPr>
              <a:t>Public subnet</a:t>
            </a:r>
            <a:endParaRPr lang="ko-KR" altLang="en-US" sz="1400" b="1">
              <a:solidFill>
                <a:srgbClr val="8D94A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BFA823CD-A5DE-4FCC-85C7-C62C914395D7}"/>
              </a:ext>
            </a:extLst>
          </p:cNvPr>
          <p:cNvSpPr/>
          <p:nvPr/>
        </p:nvSpPr>
        <p:spPr>
          <a:xfrm>
            <a:off x="8915400" y="2489200"/>
            <a:ext cx="2057400" cy="1092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4BA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9" name="Image 1" descr=" ">
            <a:extLst>
              <a:ext uri="{FF2B5EF4-FFF2-40B4-BE49-F238E27FC236}">
                <a16:creationId xmlns:a16="http://schemas.microsoft.com/office/drawing/2014/main" id="{E63FE100-953A-4526-A7E7-5085B25EA66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0" y="2717800"/>
            <a:ext cx="304800" cy="30480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89833D06-871A-4995-88A1-32099C67B587}"/>
              </a:ext>
            </a:extLst>
          </p:cNvPr>
          <p:cNvSpPr txBox="1"/>
          <p:nvPr/>
        </p:nvSpPr>
        <p:spPr>
          <a:xfrm>
            <a:off x="9525000" y="2641600"/>
            <a:ext cx="1219200" cy="57964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8D94A0"/>
                </a:solidFill>
                <a:latin typeface="Malgun Gothic" panose="020B0503020000020004" pitchFamily="50" charset="-127"/>
              </a:rPr>
              <a:t>OpenVPN Server
VM</a:t>
            </a:r>
            <a:endParaRPr lang="ko-KR" altLang="en-US" sz="1200" b="1">
              <a:solidFill>
                <a:srgbClr val="8D94A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A0049F8-61B4-4103-B5EA-FECBCF97D9C5}"/>
              </a:ext>
            </a:extLst>
          </p:cNvPr>
          <p:cNvSpPr txBox="1"/>
          <p:nvPr/>
        </p:nvSpPr>
        <p:spPr>
          <a:xfrm>
            <a:off x="9194800" y="3124200"/>
            <a:ext cx="14986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900">
                <a:solidFill>
                  <a:srgbClr val="2D3137"/>
                </a:solidFill>
                <a:latin typeface="Malgun Gothic" panose="020B0503020000020004" pitchFamily="50" charset="-127"/>
              </a:rPr>
              <a:t>OpenVPN Server + SNAT</a:t>
            </a:r>
            <a:endParaRPr lang="ko-KR" altLang="en-US" sz="900">
              <a:solidFill>
                <a:srgbClr val="2D3137"/>
              </a:solidFill>
              <a:latin typeface="Malgun Gothic" panose="020B0503020000020004" pitchFamily="50" charset="-127"/>
            </a:endParaRPr>
          </a:p>
        </p:txBody>
      </p:sp>
      <p:pic>
        <p:nvPicPr>
          <p:cNvPr id="52" name="Image 4" descr=" ">
            <a:extLst>
              <a:ext uri="{FF2B5EF4-FFF2-40B4-BE49-F238E27FC236}">
                <a16:creationId xmlns:a16="http://schemas.microsoft.com/office/drawing/2014/main" id="{A7F63F15-DE53-4F9D-881D-95B3C5BAFF56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599" y="4851400"/>
            <a:ext cx="711200" cy="711200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EBF88E5E-7997-4823-8A6A-8046BB80C6D1}"/>
              </a:ext>
            </a:extLst>
          </p:cNvPr>
          <p:cNvSpPr txBox="1"/>
          <p:nvPr/>
        </p:nvSpPr>
        <p:spPr>
          <a:xfrm>
            <a:off x="9194800" y="5562600"/>
            <a:ext cx="13208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1000">
                <a:solidFill>
                  <a:srgbClr val="2D3137"/>
                </a:solidFill>
                <a:latin typeface="Malgun Gothic" panose="020B0503020000020004" pitchFamily="50" charset="-127"/>
              </a:rPr>
              <a:t>Internet Gateway</a:t>
            </a:r>
            <a:endParaRPr lang="ko-KR" altLang="en-US" sz="1000">
              <a:solidFill>
                <a:srgbClr val="2D3137"/>
              </a:solidFill>
              <a:latin typeface="Malgun Gothic" panose="020B0503020000020004" pitchFamily="50" charset="-127"/>
            </a:endParaRPr>
          </a:p>
        </p:txBody>
      </p:sp>
      <p:pic>
        <p:nvPicPr>
          <p:cNvPr id="54" name="Image 10" descr=" ">
            <a:extLst>
              <a:ext uri="{FF2B5EF4-FFF2-40B4-BE49-F238E27FC236}">
                <a16:creationId xmlns:a16="http://schemas.microsoft.com/office/drawing/2014/main" id="{89EF14DB-057A-403B-817F-6781D55A3EFD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97800" y="3479800"/>
            <a:ext cx="279400" cy="279400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B17BDAAC-580D-498D-A8A4-78182B7D7038}"/>
              </a:ext>
            </a:extLst>
          </p:cNvPr>
          <p:cNvSpPr txBox="1"/>
          <p:nvPr/>
        </p:nvSpPr>
        <p:spPr>
          <a:xfrm>
            <a:off x="7645400" y="3302000"/>
            <a:ext cx="6096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1000">
                <a:solidFill>
                  <a:srgbClr val="585E67"/>
                </a:solidFill>
                <a:latin typeface="Malgun Gothic" panose="020B0503020000020004" pitchFamily="50" charset="-127"/>
              </a:rPr>
              <a:t>Peering</a:t>
            </a:r>
            <a:endParaRPr lang="ko-KR" altLang="en-US" sz="1000">
              <a:solidFill>
                <a:srgbClr val="585E67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54E399E9-1F7B-49DA-9BC3-C7B6DC8B9C08}"/>
              </a:ext>
            </a:extLst>
          </p:cNvPr>
          <p:cNvCxnSpPr/>
          <p:nvPr/>
        </p:nvCxnSpPr>
        <p:spPr>
          <a:xfrm>
            <a:off x="7620000" y="3632200"/>
            <a:ext cx="863600" cy="0"/>
          </a:xfrm>
          <a:prstGeom prst="line">
            <a:avLst/>
          </a:prstGeom>
          <a:ln w="22860">
            <a:solidFill>
              <a:srgbClr val="585E6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24DB83F8-E05F-42E2-835B-709979153EC4}"/>
              </a:ext>
            </a:extLst>
          </p:cNvPr>
          <p:cNvCxnSpPr/>
          <p:nvPr/>
        </p:nvCxnSpPr>
        <p:spPr>
          <a:xfrm flipV="1">
            <a:off x="6146800" y="3022600"/>
            <a:ext cx="2768600" cy="254000"/>
          </a:xfrm>
          <a:prstGeom prst="line">
            <a:avLst/>
          </a:prstGeom>
          <a:ln w="27940">
            <a:solidFill>
              <a:srgbClr val="F37E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6C360AD0-D049-4F3E-9996-444CC5C80B7F}"/>
              </a:ext>
            </a:extLst>
          </p:cNvPr>
          <p:cNvSpPr txBox="1"/>
          <p:nvPr/>
        </p:nvSpPr>
        <p:spPr>
          <a:xfrm>
            <a:off x="6908800" y="3124200"/>
            <a:ext cx="5080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F37E20"/>
                </a:solidFill>
                <a:latin typeface="Malgun Gothic" panose="020B0503020000020004" pitchFamily="50" charset="-127"/>
              </a:rPr>
              <a:t>NG-A</a:t>
            </a:r>
            <a:endParaRPr lang="ko-KR" altLang="en-US" sz="1000" b="1">
              <a:solidFill>
                <a:srgbClr val="F37E20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4C3675A9-878F-40B9-BEA8-C806C2DD1B49}"/>
              </a:ext>
            </a:extLst>
          </p:cNvPr>
          <p:cNvCxnSpPr/>
          <p:nvPr/>
        </p:nvCxnSpPr>
        <p:spPr>
          <a:xfrm flipV="1">
            <a:off x="6146800" y="4000500"/>
            <a:ext cx="381000" cy="127000"/>
          </a:xfrm>
          <a:prstGeom prst="line">
            <a:avLst/>
          </a:prstGeom>
          <a:ln w="27940">
            <a:solidFill>
              <a:srgbClr val="206B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2A8B3026-3CB1-46BF-8630-1951D24AF5D5}"/>
              </a:ext>
            </a:extLst>
          </p:cNvPr>
          <p:cNvCxnSpPr/>
          <p:nvPr/>
        </p:nvCxnSpPr>
        <p:spPr>
          <a:xfrm flipV="1">
            <a:off x="7442200" y="3098800"/>
            <a:ext cx="1473200" cy="901700"/>
          </a:xfrm>
          <a:prstGeom prst="line">
            <a:avLst/>
          </a:prstGeom>
          <a:ln w="27940">
            <a:solidFill>
              <a:srgbClr val="206B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A83C414C-3493-4F96-9209-697724CFBA68}"/>
              </a:ext>
            </a:extLst>
          </p:cNvPr>
          <p:cNvSpPr txBox="1"/>
          <p:nvPr/>
        </p:nvSpPr>
        <p:spPr>
          <a:xfrm>
            <a:off x="6451600" y="3784600"/>
            <a:ext cx="9398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900" b="1">
                <a:solidFill>
                  <a:srgbClr val="206BFF"/>
                </a:solidFill>
                <a:latin typeface="Malgun Gothic" panose="020B0503020000020004" pitchFamily="50" charset="-127"/>
              </a:rPr>
              <a:t>NG-B route</a:t>
            </a:r>
            <a:endParaRPr lang="ko-KR" altLang="en-US" sz="900" b="1">
              <a:solidFill>
                <a:srgbClr val="206BFF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4DD3E28A-B9E6-4395-B389-6400269570AA}"/>
              </a:ext>
            </a:extLst>
          </p:cNvPr>
          <p:cNvCxnSpPr/>
          <p:nvPr/>
        </p:nvCxnSpPr>
        <p:spPr>
          <a:xfrm flipV="1">
            <a:off x="6146800" y="3200400"/>
            <a:ext cx="2768600" cy="1689100"/>
          </a:xfrm>
          <a:prstGeom prst="line">
            <a:avLst/>
          </a:prstGeom>
          <a:ln w="27940">
            <a:solidFill>
              <a:srgbClr val="2AA65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4EB63EA5-41FD-427A-9248-36C6AAACF848}"/>
              </a:ext>
            </a:extLst>
          </p:cNvPr>
          <p:cNvSpPr txBox="1"/>
          <p:nvPr/>
        </p:nvSpPr>
        <p:spPr>
          <a:xfrm>
            <a:off x="6908800" y="4927600"/>
            <a:ext cx="5080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2AA65F"/>
                </a:solidFill>
                <a:latin typeface="Malgun Gothic" panose="020B0503020000020004" pitchFamily="50" charset="-127"/>
              </a:rPr>
              <a:t>NG-C</a:t>
            </a:r>
            <a:endParaRPr lang="ko-KR" altLang="en-US" sz="1000" b="1">
              <a:solidFill>
                <a:srgbClr val="2AA65F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636C0A45-0DAF-48A2-8E50-CEC319904199}"/>
              </a:ext>
            </a:extLst>
          </p:cNvPr>
          <p:cNvCxnSpPr/>
          <p:nvPr/>
        </p:nvCxnSpPr>
        <p:spPr>
          <a:xfrm>
            <a:off x="9880600" y="3581400"/>
            <a:ext cx="0" cy="1270000"/>
          </a:xfrm>
          <a:prstGeom prst="line">
            <a:avLst/>
          </a:prstGeom>
          <a:ln w="22860">
            <a:solidFill>
              <a:srgbClr val="2D313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89A57CE0-23D3-4D21-82AF-9F26DC6C97E1}"/>
              </a:ext>
            </a:extLst>
          </p:cNvPr>
          <p:cNvCxnSpPr/>
          <p:nvPr/>
        </p:nvCxnSpPr>
        <p:spPr>
          <a:xfrm flipV="1">
            <a:off x="9880600" y="1727200"/>
            <a:ext cx="0" cy="3124200"/>
          </a:xfrm>
          <a:prstGeom prst="line">
            <a:avLst/>
          </a:prstGeom>
          <a:ln w="22860">
            <a:solidFill>
              <a:srgbClr val="2D313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545317CA-5F28-4C5F-B61E-E89067F6944E}"/>
              </a:ext>
            </a:extLst>
          </p:cNvPr>
          <p:cNvSpPr txBox="1"/>
          <p:nvPr/>
        </p:nvSpPr>
        <p:spPr>
          <a:xfrm>
            <a:off x="533400" y="5740400"/>
            <a:ext cx="73914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ko-KR" altLang="en-US" sz="900">
                <a:solidFill>
                  <a:srgbClr val="2D3137"/>
                </a:solidFill>
                <a:latin typeface="Malgun Gothic" panose="020B0503020000020004" pitchFamily="50" charset="-127"/>
              </a:rPr>
              <a:t>검증 포인트</a:t>
            </a:r>
            <a:r>
              <a:rPr lang="en-US" altLang="ko-KR" sz="900">
                <a:solidFill>
                  <a:srgbClr val="2D3137"/>
                </a:solidFill>
                <a:latin typeface="Malgun Gothic" panose="020B0503020000020004" pitchFamily="50" charset="-127"/>
              </a:rPr>
              <a:t>: VPC </a:t>
            </a:r>
            <a:r>
              <a:rPr lang="ko-KR" altLang="en-US" sz="900">
                <a:solidFill>
                  <a:srgbClr val="2D3137"/>
                </a:solidFill>
                <a:latin typeface="Malgun Gothic" panose="020B0503020000020004" pitchFamily="50" charset="-127"/>
              </a:rPr>
              <a:t>안에 </a:t>
            </a:r>
            <a:r>
              <a:rPr lang="en-US" altLang="ko-KR" sz="900">
                <a:solidFill>
                  <a:srgbClr val="2D3137"/>
                </a:solidFill>
                <a:latin typeface="Malgun Gothic" panose="020B0503020000020004" pitchFamily="50" charset="-127"/>
              </a:rPr>
              <a:t>subnet</a:t>
            </a:r>
            <a:r>
              <a:rPr lang="ko-KR" altLang="en-US" sz="900">
                <a:solidFill>
                  <a:srgbClr val="2D3137"/>
                </a:solidFill>
                <a:latin typeface="Malgun Gothic" panose="020B0503020000020004" pitchFamily="50" charset="-127"/>
              </a:rPr>
              <a:t>을 명확히 분리했고</a:t>
            </a:r>
            <a:r>
              <a:rPr lang="en-US" altLang="ko-KR" sz="900">
                <a:solidFill>
                  <a:srgbClr val="2D3137"/>
                </a:solidFill>
                <a:latin typeface="Malgun Gothic" panose="020B0503020000020004" pitchFamily="50" charset="-127"/>
              </a:rPr>
              <a:t>, NG-B</a:t>
            </a:r>
            <a:r>
              <a:rPr lang="ko-KR" altLang="en-US" sz="900">
                <a:solidFill>
                  <a:srgbClr val="2D3137"/>
                </a:solidFill>
                <a:latin typeface="Malgun Gothic" panose="020B0503020000020004" pitchFamily="50" charset="-127"/>
              </a:rPr>
              <a:t>는 </a:t>
            </a:r>
            <a:r>
              <a:rPr lang="en-US" altLang="ko-KR" sz="900">
                <a:solidFill>
                  <a:srgbClr val="2D3137"/>
                </a:solidFill>
                <a:latin typeface="Malgun Gothic" panose="020B0503020000020004" pitchFamily="50" charset="-127"/>
              </a:rPr>
              <a:t>Private subnet </a:t>
            </a:r>
            <a:r>
              <a:rPr lang="ko-KR" altLang="en-US" sz="900">
                <a:solidFill>
                  <a:srgbClr val="2D3137"/>
                </a:solidFill>
                <a:latin typeface="Malgun Gothic" panose="020B0503020000020004" pitchFamily="50" charset="-127"/>
              </a:rPr>
              <a:t>내 </a:t>
            </a:r>
            <a:r>
              <a:rPr lang="en-US" altLang="ko-KR" sz="900">
                <a:solidFill>
                  <a:srgbClr val="2D3137"/>
                </a:solidFill>
                <a:latin typeface="Malgun Gothic" panose="020B0503020000020004" pitchFamily="50" charset="-127"/>
              </a:rPr>
              <a:t>VPN Gateway VM</a:t>
            </a:r>
            <a:r>
              <a:rPr lang="ko-KR" altLang="en-US" sz="900">
                <a:solidFill>
                  <a:srgbClr val="2D3137"/>
                </a:solidFill>
                <a:latin typeface="Malgun Gothic" panose="020B0503020000020004" pitchFamily="50" charset="-127"/>
              </a:rPr>
              <a:t>을 </a:t>
            </a:r>
            <a:r>
              <a:rPr lang="en-US" altLang="ko-KR" sz="900">
                <a:solidFill>
                  <a:srgbClr val="2D3137"/>
                </a:solidFill>
                <a:latin typeface="Malgun Gothic" panose="020B0503020000020004" pitchFamily="50" charset="-127"/>
              </a:rPr>
              <a:t>next hop</a:t>
            </a:r>
            <a:r>
              <a:rPr lang="ko-KR" altLang="en-US" sz="900">
                <a:solidFill>
                  <a:srgbClr val="2D3137"/>
                </a:solidFill>
                <a:latin typeface="Malgun Gothic" panose="020B0503020000020004" pitchFamily="50" charset="-127"/>
              </a:rPr>
              <a:t>으로 사용합니다</a:t>
            </a:r>
            <a:r>
              <a:rPr lang="en-US" altLang="ko-KR" sz="900">
                <a:solidFill>
                  <a:srgbClr val="2D3137"/>
                </a:solidFill>
                <a:latin typeface="Malgun Gothic" panose="020B0503020000020004" pitchFamily="50" charset="-127"/>
              </a:rPr>
              <a:t>.</a:t>
            </a:r>
            <a:endParaRPr lang="ko-KR" altLang="en-US" sz="900">
              <a:solidFill>
                <a:srgbClr val="2D3137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55260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40212</TotalTime>
  <Words>274</Words>
  <Application>Microsoft Office PowerPoint</Application>
  <PresentationFormat>와이드스크린</PresentationFormat>
  <Paragraphs>62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Malgun Gothic</vt:lpstr>
      <vt:lpstr>Malgun Gothic</vt:lpstr>
      <vt:lpstr>Arial</vt:lpstr>
      <vt:lpstr>Calibri</vt:lpstr>
      <vt:lpstr>Calibri Light</vt:lpstr>
      <vt:lpstr>Office Theme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신기호</cp:lastModifiedBy>
  <cp:revision>932</cp:revision>
  <dcterms:created xsi:type="dcterms:W3CDTF">2024-11-04T08:49:16Z</dcterms:created>
  <dcterms:modified xsi:type="dcterms:W3CDTF">2026-04-03T05:26:33Z</dcterms:modified>
</cp:coreProperties>
</file>