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"/>
  </p:notesMasterIdLst>
  <p:sldIdLst>
    <p:sldId id="723" r:id="rId2"/>
  </p:sldIdLst>
  <p:sldSz cx="12192000" cy="6858000"/>
  <p:notesSz cx="9144000" cy="162575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444444"/>
    <a:srgbClr val="125CE7"/>
    <a:srgbClr val="669DF6"/>
    <a:srgbClr val="4387F7"/>
    <a:srgbClr val="B0CEFC"/>
    <a:srgbClr val="447FEB"/>
    <a:srgbClr val="EF0F0F"/>
    <a:srgbClr val="6B9D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93" autoAdjust="0"/>
    <p:restoredTop sz="96311"/>
  </p:normalViewPr>
  <p:slideViewPr>
    <p:cSldViewPr snapToGrid="0" snapToObjects="1">
      <p:cViewPr varScale="1">
        <p:scale>
          <a:sx n="116" d="100"/>
          <a:sy n="116" d="100"/>
        </p:scale>
        <p:origin x="21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0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5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09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63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417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71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126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98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83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4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3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2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8248F-5A9E-43A2-B8F4-7202BFDD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28EC-72F6-4BAE-8C49-CC7C39F8ECF8}"/>
              </a:ext>
            </a:extLst>
          </p:cNvPr>
          <p:cNvSpPr txBox="1"/>
          <p:nvPr/>
        </p:nvSpPr>
        <p:spPr>
          <a:xfrm>
            <a:off x="431800" y="203200"/>
            <a:ext cx="8890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2200" b="1">
                <a:solidFill>
                  <a:srgbClr val="2D3137"/>
                </a:solidFill>
                <a:latin typeface="Malgun Gothic" panose="020B0503020000020004" pitchFamily="50" charset="-127"/>
              </a:rPr>
              <a:t>NKS Private Zone OpenVPN Egress </a:t>
            </a:r>
            <a:r>
              <a:rPr lang="ko-KR" altLang="en-US" sz="2200" b="1">
                <a:solidFill>
                  <a:srgbClr val="2D3137"/>
                </a:solidFill>
                <a:latin typeface="Malgun Gothic" panose="020B0503020000020004" pitchFamily="50" charset="-127"/>
              </a:rPr>
              <a:t>검증 구성도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D11286-FD92-4070-9AE0-39245D661288}"/>
              </a:ext>
            </a:extLst>
          </p:cNvPr>
          <p:cNvCxnSpPr/>
          <p:nvPr/>
        </p:nvCxnSpPr>
        <p:spPr>
          <a:xfrm>
            <a:off x="406400" y="685800"/>
            <a:ext cx="11379200" cy="0"/>
          </a:xfrm>
          <a:prstGeom prst="line">
            <a:avLst/>
          </a:prstGeom>
          <a:ln w="15240">
            <a:solidFill>
              <a:srgbClr val="B4BA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9D13F06-DB4B-46BB-AC1A-1C05A7B14B7F}"/>
              </a:ext>
            </a:extLst>
          </p:cNvPr>
          <p:cNvSpPr/>
          <p:nvPr/>
        </p:nvSpPr>
        <p:spPr>
          <a:xfrm>
            <a:off x="8077200" y="127000"/>
            <a:ext cx="34798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A2647-1A19-4442-95BC-EEEABBB51473}"/>
              </a:ext>
            </a:extLst>
          </p:cNvPr>
          <p:cNvSpPr txBox="1"/>
          <p:nvPr/>
        </p:nvSpPr>
        <p:spPr>
          <a:xfrm>
            <a:off x="8331200" y="203200"/>
            <a:ext cx="2997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sv-SE" altLang="ko-KR" sz="1200">
                <a:solidFill>
                  <a:srgbClr val="585E67"/>
                </a:solidFill>
                <a:latin typeface="Malgun Gothic" panose="020B0503020000020004" pitchFamily="50" charset="-127"/>
              </a:rPr>
              <a:t>Internet / google.com / External APIs</a:t>
            </a:r>
            <a:endParaRPr lang="ko-KR" altLang="en-US" sz="12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051324-8778-4A6B-920D-B6E7BD84BBBB}"/>
              </a:ext>
            </a:extLst>
          </p:cNvPr>
          <p:cNvSpPr/>
          <p:nvPr/>
        </p:nvSpPr>
        <p:spPr>
          <a:xfrm>
            <a:off x="304800" y="1092200"/>
            <a:ext cx="75946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98AF8-7CF2-4E66-A7A1-B0C0391B650F}"/>
              </a:ext>
            </a:extLst>
          </p:cNvPr>
          <p:cNvSpPr txBox="1"/>
          <p:nvPr/>
        </p:nvSpPr>
        <p:spPr>
          <a:xfrm>
            <a:off x="5334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Private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4CB408-54D7-47A0-B4E8-8570CBA4A9BB}"/>
              </a:ext>
            </a:extLst>
          </p:cNvPr>
          <p:cNvSpPr/>
          <p:nvPr/>
        </p:nvSpPr>
        <p:spPr>
          <a:xfrm>
            <a:off x="8128000" y="1092200"/>
            <a:ext cx="35814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7610D-8B69-42DC-A8F7-2338FEC64386}"/>
              </a:ext>
            </a:extLst>
          </p:cNvPr>
          <p:cNvSpPr txBox="1"/>
          <p:nvPr/>
        </p:nvSpPr>
        <p:spPr>
          <a:xfrm>
            <a:off x="83566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Public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58B7B7-705A-4AB4-8C86-3B3971885D82}"/>
              </a:ext>
            </a:extLst>
          </p:cNvPr>
          <p:cNvSpPr/>
          <p:nvPr/>
        </p:nvSpPr>
        <p:spPr>
          <a:xfrm>
            <a:off x="685800" y="1701800"/>
            <a:ext cx="1778000" cy="12192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F0AC5B20-3889-4842-955F-017F212841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082800"/>
            <a:ext cx="355600" cy="355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99DB43-03FA-4BD0-A506-061EEFD88D34}"/>
              </a:ext>
            </a:extLst>
          </p:cNvPr>
          <p:cNvSpPr txBox="1"/>
          <p:nvPr/>
        </p:nvSpPr>
        <p:spPr>
          <a:xfrm>
            <a:off x="1397000" y="1854200"/>
            <a:ext cx="863600" cy="4257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8D94A0"/>
                </a:solidFill>
                <a:latin typeface="Malgun Gothic" panose="020B0503020000020004" pitchFamily="50" charset="-127"/>
              </a:rPr>
              <a:t>CA Server
VM</a:t>
            </a:r>
            <a:endParaRPr lang="ko-KR" altLang="en-US" sz="13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ABD59-3425-42B9-A51F-3C101487FC50}"/>
              </a:ext>
            </a:extLst>
          </p:cNvPr>
          <p:cNvSpPr txBox="1"/>
          <p:nvPr/>
        </p:nvSpPr>
        <p:spPr>
          <a:xfrm>
            <a:off x="838200" y="2514600"/>
            <a:ext cx="14732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Easy-RSA / CRL / Bundle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AA0F34-6056-4EB4-B36D-C2C3AEFEBF7F}"/>
              </a:ext>
            </a:extLst>
          </p:cNvPr>
          <p:cNvSpPr/>
          <p:nvPr/>
        </p:nvSpPr>
        <p:spPr>
          <a:xfrm>
            <a:off x="2717800" y="1701800"/>
            <a:ext cx="3479800" cy="38608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EC268-969B-4186-8B32-0C4B8C6D961E}"/>
              </a:ext>
            </a:extLst>
          </p:cNvPr>
          <p:cNvSpPr txBox="1"/>
          <p:nvPr/>
        </p:nvSpPr>
        <p:spPr>
          <a:xfrm>
            <a:off x="2946400" y="1854200"/>
            <a:ext cx="26416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500" b="1">
                <a:solidFill>
                  <a:srgbClr val="8D94A0"/>
                </a:solidFill>
                <a:latin typeface="Malgun Gothic" panose="020B0503020000020004" pitchFamily="50" charset="-127"/>
              </a:rPr>
              <a:t>NKS Cluster (Private Zone)</a:t>
            </a:r>
            <a:endParaRPr lang="ko-KR" altLang="en-US" sz="15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DEA23A5E-39DE-4477-8085-12508F45A92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1778000"/>
            <a:ext cx="431800" cy="43180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940CCF-9FB6-497A-B126-974E21CBBCAE}"/>
              </a:ext>
            </a:extLst>
          </p:cNvPr>
          <p:cNvSpPr/>
          <p:nvPr/>
        </p:nvSpPr>
        <p:spPr>
          <a:xfrm>
            <a:off x="6375400" y="3632200"/>
            <a:ext cx="1219200" cy="14732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Image 1" descr=" ">
            <a:extLst>
              <a:ext uri="{FF2B5EF4-FFF2-40B4-BE49-F238E27FC236}">
                <a16:creationId xmlns:a16="http://schemas.microsoft.com/office/drawing/2014/main" id="{97B8D80C-EE6A-4859-8374-06A498BEF6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7200" y="3911600"/>
            <a:ext cx="330200" cy="330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0CD81F-315D-4270-BF1D-4E60B310E396}"/>
              </a:ext>
            </a:extLst>
          </p:cNvPr>
          <p:cNvSpPr txBox="1"/>
          <p:nvPr/>
        </p:nvSpPr>
        <p:spPr>
          <a:xfrm>
            <a:off x="6578600" y="4318000"/>
            <a:ext cx="8128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VPN Gateway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83FB1-AFD8-46F1-9B5D-D598706F3745}"/>
              </a:ext>
            </a:extLst>
          </p:cNvPr>
          <p:cNvSpPr txBox="1"/>
          <p:nvPr/>
        </p:nvSpPr>
        <p:spPr>
          <a:xfrm>
            <a:off x="6527800" y="47498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3D83C05-A8D4-47A8-B0CB-DB887FE38FD7}"/>
              </a:ext>
            </a:extLst>
          </p:cNvPr>
          <p:cNvSpPr/>
          <p:nvPr/>
        </p:nvSpPr>
        <p:spPr>
          <a:xfrm>
            <a:off x="2946400" y="2311400"/>
            <a:ext cx="3022600" cy="863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F033B9-5FDF-4BE7-A3EB-3982DE1D88C2}"/>
              </a:ext>
            </a:extLst>
          </p:cNvPr>
          <p:cNvSpPr/>
          <p:nvPr/>
        </p:nvSpPr>
        <p:spPr>
          <a:xfrm>
            <a:off x="3149600" y="25146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0E779C-F84D-416B-A17D-AED950AFF6B7}"/>
              </a:ext>
            </a:extLst>
          </p:cNvPr>
          <p:cNvSpPr txBox="1"/>
          <p:nvPr/>
        </p:nvSpPr>
        <p:spPr>
          <a:xfrm>
            <a:off x="3276600" y="25654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A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97DABE-EE8F-4182-9C25-4EE951D55532}"/>
              </a:ext>
            </a:extLst>
          </p:cNvPr>
          <p:cNvSpPr/>
          <p:nvPr/>
        </p:nvSpPr>
        <p:spPr>
          <a:xfrm>
            <a:off x="4470400" y="2514600"/>
            <a:ext cx="660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62FAB7-4787-4A36-A17C-B246E7B0A371}"/>
              </a:ext>
            </a:extLst>
          </p:cNvPr>
          <p:cNvSpPr txBox="1"/>
          <p:nvPr/>
        </p:nvSpPr>
        <p:spPr>
          <a:xfrm>
            <a:off x="4648200" y="2565400"/>
            <a:ext cx="304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967F1-D330-4794-B000-2B90B69FC454}"/>
              </a:ext>
            </a:extLst>
          </p:cNvPr>
          <p:cNvSpPr txBox="1"/>
          <p:nvPr/>
        </p:nvSpPr>
        <p:spPr>
          <a:xfrm>
            <a:off x="3149600" y="2895600"/>
            <a:ext cx="2413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100">
                <a:solidFill>
                  <a:srgbClr val="2D3137"/>
                </a:solidFill>
                <a:latin typeface="Malgun Gothic" panose="020B0503020000020004" pitchFamily="50" charset="-127"/>
              </a:rPr>
              <a:t>주 방안</a:t>
            </a:r>
            <a:r>
              <a:rPr lang="en-US" altLang="ko-KR" sz="1100">
                <a:solidFill>
                  <a:srgbClr val="2D3137"/>
                </a:solidFill>
                <a:latin typeface="Malgun Gothic" panose="020B0503020000020004" pitchFamily="50" charset="-127"/>
              </a:rPr>
              <a:t>: Node</a:t>
            </a:r>
            <a:r>
              <a:rPr lang="ko-KR" altLang="en-US" sz="11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11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1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B1FBC2A-989E-4A8F-94BF-32BAC3086A00}"/>
              </a:ext>
            </a:extLst>
          </p:cNvPr>
          <p:cNvSpPr/>
          <p:nvPr/>
        </p:nvSpPr>
        <p:spPr>
          <a:xfrm>
            <a:off x="2946400" y="3454400"/>
            <a:ext cx="3022600" cy="939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1CCFDA-AA2B-4B0E-958F-BEE2E1C4BE2E}"/>
              </a:ext>
            </a:extLst>
          </p:cNvPr>
          <p:cNvSpPr/>
          <p:nvPr/>
        </p:nvSpPr>
        <p:spPr>
          <a:xfrm>
            <a:off x="3149600" y="36576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443713-6760-4302-BCE6-E785CB63F565}"/>
              </a:ext>
            </a:extLst>
          </p:cNvPr>
          <p:cNvSpPr txBox="1"/>
          <p:nvPr/>
        </p:nvSpPr>
        <p:spPr>
          <a:xfrm>
            <a:off x="3276600" y="37084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B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779D08-0530-4D94-A8EB-DDBF47F8B225}"/>
              </a:ext>
            </a:extLst>
          </p:cNvPr>
          <p:cNvSpPr/>
          <p:nvPr/>
        </p:nvSpPr>
        <p:spPr>
          <a:xfrm>
            <a:off x="4470400" y="3657600"/>
            <a:ext cx="660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E479DF-EFBF-4BE3-9B5F-3BD44122B9A7}"/>
              </a:ext>
            </a:extLst>
          </p:cNvPr>
          <p:cNvSpPr txBox="1"/>
          <p:nvPr/>
        </p:nvSpPr>
        <p:spPr>
          <a:xfrm>
            <a:off x="4648200" y="3708400"/>
            <a:ext cx="304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7127BD-8EE3-434D-8681-A22437D33B46}"/>
              </a:ext>
            </a:extLst>
          </p:cNvPr>
          <p:cNvSpPr txBox="1"/>
          <p:nvPr/>
        </p:nvSpPr>
        <p:spPr>
          <a:xfrm>
            <a:off x="3149600" y="4038600"/>
            <a:ext cx="24130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추가 방안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1: next hop = VPN Gateway VM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13572F-3D71-43FC-A560-D5FED2E409B1}"/>
              </a:ext>
            </a:extLst>
          </p:cNvPr>
          <p:cNvSpPr/>
          <p:nvPr/>
        </p:nvSpPr>
        <p:spPr>
          <a:xfrm>
            <a:off x="2946400" y="4648200"/>
            <a:ext cx="3022600" cy="736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7517BF-5576-4881-B661-86025D774ABB}"/>
              </a:ext>
            </a:extLst>
          </p:cNvPr>
          <p:cNvSpPr/>
          <p:nvPr/>
        </p:nvSpPr>
        <p:spPr>
          <a:xfrm>
            <a:off x="3149600" y="48514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A20936-3AD8-4A08-9BE9-2D6DE3BD8723}"/>
              </a:ext>
            </a:extLst>
          </p:cNvPr>
          <p:cNvSpPr txBox="1"/>
          <p:nvPr/>
        </p:nvSpPr>
        <p:spPr>
          <a:xfrm>
            <a:off x="3276600" y="49022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C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962D54-F981-4D9A-ABFE-AB11A6AAAD93}"/>
              </a:ext>
            </a:extLst>
          </p:cNvPr>
          <p:cNvSpPr/>
          <p:nvPr/>
        </p:nvSpPr>
        <p:spPr>
          <a:xfrm>
            <a:off x="4470400" y="4851400"/>
            <a:ext cx="12700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E03DD2-235D-4251-A17F-5F3446544007}"/>
              </a:ext>
            </a:extLst>
          </p:cNvPr>
          <p:cNvSpPr txBox="1"/>
          <p:nvPr/>
        </p:nvSpPr>
        <p:spPr>
          <a:xfrm>
            <a:off x="4597400" y="4902200"/>
            <a:ext cx="101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 + Sidecar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EFFEA4-05E6-4DBC-BF40-524EBF06AB98}"/>
              </a:ext>
            </a:extLst>
          </p:cNvPr>
          <p:cNvSpPr txBox="1"/>
          <p:nvPr/>
        </p:nvSpPr>
        <p:spPr>
          <a:xfrm>
            <a:off x="3149600" y="5207000"/>
            <a:ext cx="228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추가 방안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2: Pod</a:t>
            </a:r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B79334D-4B9E-43AC-AEA7-BB85FAEEC933}"/>
              </a:ext>
            </a:extLst>
          </p:cNvPr>
          <p:cNvSpPr/>
          <p:nvPr/>
        </p:nvSpPr>
        <p:spPr>
          <a:xfrm>
            <a:off x="8509000" y="1701800"/>
            <a:ext cx="2819400" cy="32766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FE8454-D030-447E-94AC-2640D07C9A2A}"/>
              </a:ext>
            </a:extLst>
          </p:cNvPr>
          <p:cNvSpPr txBox="1"/>
          <p:nvPr/>
        </p:nvSpPr>
        <p:spPr>
          <a:xfrm>
            <a:off x="8737600" y="1854200"/>
            <a:ext cx="152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500" b="1">
                <a:solidFill>
                  <a:srgbClr val="8D94A0"/>
                </a:solidFill>
                <a:latin typeface="Malgun Gothic" panose="020B0503020000020004" pitchFamily="50" charset="-127"/>
              </a:rPr>
              <a:t>Public subnet</a:t>
            </a:r>
            <a:endParaRPr lang="ko-KR" altLang="en-US" sz="15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AA0B1E3-6F08-491F-BA7A-CE4B24F1200A}"/>
              </a:ext>
            </a:extLst>
          </p:cNvPr>
          <p:cNvSpPr/>
          <p:nvPr/>
        </p:nvSpPr>
        <p:spPr>
          <a:xfrm>
            <a:off x="8890000" y="2235200"/>
            <a:ext cx="2082800" cy="1168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Image 1" descr=" ">
            <a:extLst>
              <a:ext uri="{FF2B5EF4-FFF2-40B4-BE49-F238E27FC236}">
                <a16:creationId xmlns:a16="http://schemas.microsoft.com/office/drawing/2014/main" id="{322D8925-30DF-4D1F-A480-E9C60006C9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8600" y="2489200"/>
            <a:ext cx="330200" cy="330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AA806B4-21B1-4359-9020-2F535FA299AD}"/>
              </a:ext>
            </a:extLst>
          </p:cNvPr>
          <p:cNvSpPr txBox="1"/>
          <p:nvPr/>
        </p:nvSpPr>
        <p:spPr>
          <a:xfrm>
            <a:off x="9499600" y="2387600"/>
            <a:ext cx="12192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OpenVPN Server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2C17FC-97C0-4B93-A344-6969BF320B37}"/>
              </a:ext>
            </a:extLst>
          </p:cNvPr>
          <p:cNvSpPr txBox="1"/>
          <p:nvPr/>
        </p:nvSpPr>
        <p:spPr>
          <a:xfrm>
            <a:off x="9169400" y="2921000"/>
            <a:ext cx="1498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Server + SNAT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6" name="Image 4" descr=" ">
            <a:extLst>
              <a:ext uri="{FF2B5EF4-FFF2-40B4-BE49-F238E27FC236}">
                <a16:creationId xmlns:a16="http://schemas.microsoft.com/office/drawing/2014/main" id="{D9E783C4-EA96-4A79-869C-6FCCB42002D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8799" y="3810000"/>
            <a:ext cx="736600" cy="736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11C6436-37FE-447A-AC40-E29F91B7D604}"/>
              </a:ext>
            </a:extLst>
          </p:cNvPr>
          <p:cNvSpPr txBox="1"/>
          <p:nvPr/>
        </p:nvSpPr>
        <p:spPr>
          <a:xfrm>
            <a:off x="9144000" y="4521200"/>
            <a:ext cx="1320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Internet Gateway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B49509A7-0062-41A2-9850-B3403FE9CCA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26600" y="5130800"/>
            <a:ext cx="355600" cy="355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F825DA9-828D-46D4-854E-0F4DA249E7A2}"/>
              </a:ext>
            </a:extLst>
          </p:cNvPr>
          <p:cNvSpPr txBox="1"/>
          <p:nvPr/>
        </p:nvSpPr>
        <p:spPr>
          <a:xfrm>
            <a:off x="9093200" y="5511800"/>
            <a:ext cx="1422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585E67"/>
                </a:solidFill>
                <a:latin typeface="Malgun Gothic" panose="020B0503020000020004" pitchFamily="50" charset="-127"/>
              </a:rPr>
              <a:t>Admin Bastion
(optional)</a:t>
            </a:r>
            <a:endParaRPr lang="ko-KR" altLang="en-US" sz="10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50" name="Image 10" descr=" ">
            <a:extLst>
              <a:ext uri="{FF2B5EF4-FFF2-40B4-BE49-F238E27FC236}">
                <a16:creationId xmlns:a16="http://schemas.microsoft.com/office/drawing/2014/main" id="{4D25CAD0-EE0F-4016-B19D-C368E3F1D8B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7000" y="3454400"/>
            <a:ext cx="304800" cy="3048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851E312-DD7A-40F3-BED4-2EAEA857FE5D}"/>
              </a:ext>
            </a:extLst>
          </p:cNvPr>
          <p:cNvSpPr txBox="1"/>
          <p:nvPr/>
        </p:nvSpPr>
        <p:spPr>
          <a:xfrm>
            <a:off x="7594600" y="3276600"/>
            <a:ext cx="609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585E67"/>
                </a:solidFill>
                <a:latin typeface="Malgun Gothic" panose="020B0503020000020004" pitchFamily="50" charset="-127"/>
              </a:rPr>
              <a:t>Peering</a:t>
            </a:r>
            <a:endParaRPr lang="ko-KR" altLang="en-US" sz="10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FA23CC6-0C34-42FD-9A9A-C95B164B9B25}"/>
              </a:ext>
            </a:extLst>
          </p:cNvPr>
          <p:cNvCxnSpPr/>
          <p:nvPr/>
        </p:nvCxnSpPr>
        <p:spPr>
          <a:xfrm>
            <a:off x="7594600" y="3606800"/>
            <a:ext cx="914400" cy="0"/>
          </a:xfrm>
          <a:prstGeom prst="line">
            <a:avLst/>
          </a:prstGeom>
          <a:ln w="22860">
            <a:solidFill>
              <a:srgbClr val="585E6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1935832-F5C0-47C6-AE7C-72A4D816DC3C}"/>
              </a:ext>
            </a:extLst>
          </p:cNvPr>
          <p:cNvCxnSpPr/>
          <p:nvPr/>
        </p:nvCxnSpPr>
        <p:spPr>
          <a:xfrm>
            <a:off x="5969000" y="2717800"/>
            <a:ext cx="2921000" cy="0"/>
          </a:xfrm>
          <a:prstGeom prst="line">
            <a:avLst/>
          </a:prstGeom>
          <a:ln w="30480">
            <a:solidFill>
              <a:srgbClr val="F37E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E28CD6C-408B-4DBB-BB85-3AF58A2CEB3D}"/>
              </a:ext>
            </a:extLst>
          </p:cNvPr>
          <p:cNvSpPr txBox="1"/>
          <p:nvPr/>
        </p:nvSpPr>
        <p:spPr>
          <a:xfrm>
            <a:off x="6959600" y="2514600"/>
            <a:ext cx="533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37E20"/>
                </a:solidFill>
                <a:latin typeface="Malgun Gothic" panose="020B0503020000020004" pitchFamily="50" charset="-127"/>
              </a:rPr>
              <a:t>NG-A</a:t>
            </a:r>
            <a:endParaRPr lang="ko-KR" altLang="en-US" sz="1100" b="1">
              <a:solidFill>
                <a:srgbClr val="F37E2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EA050F6-CA5C-4A92-AA51-D852A66FD908}"/>
              </a:ext>
            </a:extLst>
          </p:cNvPr>
          <p:cNvCxnSpPr/>
          <p:nvPr/>
        </p:nvCxnSpPr>
        <p:spPr>
          <a:xfrm>
            <a:off x="5969000" y="3822700"/>
            <a:ext cx="406400" cy="546100"/>
          </a:xfrm>
          <a:prstGeom prst="line">
            <a:avLst/>
          </a:prstGeom>
          <a:ln w="3048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613967F-14A8-4502-9B82-3070BC0A8B48}"/>
              </a:ext>
            </a:extLst>
          </p:cNvPr>
          <p:cNvCxnSpPr/>
          <p:nvPr/>
        </p:nvCxnSpPr>
        <p:spPr>
          <a:xfrm flipV="1">
            <a:off x="7594600" y="2819400"/>
            <a:ext cx="1295400" cy="1549400"/>
          </a:xfrm>
          <a:prstGeom prst="line">
            <a:avLst/>
          </a:prstGeom>
          <a:ln w="3048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908C3D4-81D3-42BE-AB5D-D1A8EA960D1F}"/>
              </a:ext>
            </a:extLst>
          </p:cNvPr>
          <p:cNvSpPr txBox="1"/>
          <p:nvPr/>
        </p:nvSpPr>
        <p:spPr>
          <a:xfrm>
            <a:off x="6527800" y="3708400"/>
            <a:ext cx="990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06BFF"/>
                </a:solidFill>
                <a:latin typeface="Malgun Gothic" panose="020B0503020000020004" pitchFamily="50" charset="-127"/>
              </a:rPr>
              <a:t>NG-B route</a:t>
            </a:r>
            <a:endParaRPr lang="ko-KR" altLang="en-US" sz="1000" b="1">
              <a:solidFill>
                <a:srgbClr val="206B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2010CDA-F398-4BFB-94D7-C6D3BC87D4BB}"/>
              </a:ext>
            </a:extLst>
          </p:cNvPr>
          <p:cNvCxnSpPr/>
          <p:nvPr/>
        </p:nvCxnSpPr>
        <p:spPr>
          <a:xfrm flipV="1">
            <a:off x="5969000" y="3149600"/>
            <a:ext cx="2921000" cy="1866900"/>
          </a:xfrm>
          <a:prstGeom prst="line">
            <a:avLst/>
          </a:prstGeom>
          <a:ln w="30480">
            <a:solidFill>
              <a:srgbClr val="2AA6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6ADCEC7-CF7C-4FAB-A331-77AFCA3D919F}"/>
              </a:ext>
            </a:extLst>
          </p:cNvPr>
          <p:cNvSpPr txBox="1"/>
          <p:nvPr/>
        </p:nvSpPr>
        <p:spPr>
          <a:xfrm>
            <a:off x="6959600" y="5130800"/>
            <a:ext cx="533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AA65F"/>
                </a:solidFill>
                <a:latin typeface="Malgun Gothic" panose="020B0503020000020004" pitchFamily="50" charset="-127"/>
              </a:rPr>
              <a:t>NG-C</a:t>
            </a:r>
            <a:endParaRPr lang="ko-KR" altLang="en-US" sz="1100" b="1">
              <a:solidFill>
                <a:srgbClr val="2AA65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ECFA93E-8A66-43D8-BADE-EF547A1763C6}"/>
              </a:ext>
            </a:extLst>
          </p:cNvPr>
          <p:cNvCxnSpPr/>
          <p:nvPr/>
        </p:nvCxnSpPr>
        <p:spPr>
          <a:xfrm>
            <a:off x="9931400" y="3403600"/>
            <a:ext cx="0" cy="4064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27FEA46-0750-4B7A-A265-12873C0D4994}"/>
              </a:ext>
            </a:extLst>
          </p:cNvPr>
          <p:cNvCxnSpPr/>
          <p:nvPr/>
        </p:nvCxnSpPr>
        <p:spPr>
          <a:xfrm flipV="1">
            <a:off x="9931400" y="1727200"/>
            <a:ext cx="0" cy="20828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0729E09-8AF2-4733-98BE-20DFD662E4F9}"/>
              </a:ext>
            </a:extLst>
          </p:cNvPr>
          <p:cNvSpPr txBox="1"/>
          <p:nvPr/>
        </p:nvSpPr>
        <p:spPr>
          <a:xfrm>
            <a:off x="584200" y="5689600"/>
            <a:ext cx="7010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검증 포인트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: NG-A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각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node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client, NG-B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node egress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VPN Gateway VM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을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next hop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으로 사용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, NG-C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Pod sidecar 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방식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2DE1B6-BA5E-41FC-9FB5-E4AC99BF9962}"/>
              </a:ext>
            </a:extLst>
          </p:cNvPr>
          <p:cNvSpPr txBox="1"/>
          <p:nvPr/>
        </p:nvSpPr>
        <p:spPr>
          <a:xfrm>
            <a:off x="8356600" y="6019800"/>
            <a:ext cx="30988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모든 경로의 최종 인터넷 출구는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Public VPC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OpenVPN Server VM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95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40212</TotalTime>
  <Words>143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신기호</cp:lastModifiedBy>
  <cp:revision>931</cp:revision>
  <dcterms:created xsi:type="dcterms:W3CDTF">2024-11-04T08:49:16Z</dcterms:created>
  <dcterms:modified xsi:type="dcterms:W3CDTF">2026-04-03T05:26:05Z</dcterms:modified>
</cp:coreProperties>
</file>