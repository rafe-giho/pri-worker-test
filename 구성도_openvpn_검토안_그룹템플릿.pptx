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3"/>
  </p:notesMasterIdLst>
  <p:sldIdLst>
    <p:sldId id="721" r:id="rId2"/>
  </p:sldIdLst>
  <p:sldSz cx="12192000" cy="6858000"/>
  <p:notesSz cx="9144000" cy="162575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BBBB"/>
    <a:srgbClr val="555555"/>
    <a:srgbClr val="444444"/>
    <a:srgbClr val="125CE7"/>
    <a:srgbClr val="669DF6"/>
    <a:srgbClr val="4387F7"/>
    <a:srgbClr val="B0CEFC"/>
    <a:srgbClr val="447FEB"/>
    <a:srgbClr val="EF0F0F"/>
    <a:srgbClr val="6B9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3" autoAdjust="0"/>
    <p:restoredTop sz="96311"/>
  </p:normalViewPr>
  <p:slideViewPr>
    <p:cSldViewPr snapToGrid="0" snapToObjects="1">
      <p:cViewPr varScale="1">
        <p:scale>
          <a:sx n="116" d="100"/>
          <a:sy n="116" d="100"/>
        </p:scale>
        <p:origin x="21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20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5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09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63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417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71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126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98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83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4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3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2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0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143FD23-78FD-4218-A4DB-7971597B151C}"/>
              </a:ext>
            </a:extLst>
          </p:cNvPr>
          <p:cNvSpPr/>
          <p:nvPr/>
        </p:nvSpPr>
        <p:spPr>
          <a:xfrm>
            <a:off x="7289800" y="2268287"/>
            <a:ext cx="932372" cy="3779098"/>
          </a:xfrm>
          <a:prstGeom prst="rect">
            <a:avLst/>
          </a:prstGeom>
          <a:solidFill>
            <a:srgbClr val="BBBBB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7B7E20-4841-4253-A1C9-3BD4FF02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D4A31-C903-4310-BCAF-12EE4B6E9170}"/>
              </a:ext>
            </a:extLst>
          </p:cNvPr>
          <p:cNvSpPr txBox="1"/>
          <p:nvPr/>
        </p:nvSpPr>
        <p:spPr>
          <a:xfrm>
            <a:off x="431800" y="317500"/>
            <a:ext cx="10414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2100" b="1" dirty="0">
                <a:solidFill>
                  <a:srgbClr val="2D3137"/>
                </a:solidFill>
                <a:latin typeface="Malgun Gothic" panose="020B0503020000020004" pitchFamily="50" charset="-127"/>
              </a:rPr>
              <a:t>NKS Private Zone OpenVPN Egress </a:t>
            </a:r>
            <a:r>
              <a:rPr lang="ko-KR" altLang="en-US" sz="2100" b="1" dirty="0">
                <a:solidFill>
                  <a:srgbClr val="2D3137"/>
                </a:solidFill>
                <a:latin typeface="Malgun Gothic" panose="020B0503020000020004" pitchFamily="50" charset="-127"/>
              </a:rPr>
              <a:t>검증 구성도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1A59202-56E8-4966-8362-E48177105E81}"/>
              </a:ext>
            </a:extLst>
          </p:cNvPr>
          <p:cNvCxnSpPr/>
          <p:nvPr/>
        </p:nvCxnSpPr>
        <p:spPr>
          <a:xfrm>
            <a:off x="406400" y="685800"/>
            <a:ext cx="11379200" cy="0"/>
          </a:xfrm>
          <a:prstGeom prst="line">
            <a:avLst/>
          </a:prstGeom>
          <a:ln w="15240">
            <a:solidFill>
              <a:srgbClr val="B4BA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596F7A-C48F-4F7E-BCC8-C9CE1BBF90D6}"/>
              </a:ext>
            </a:extLst>
          </p:cNvPr>
          <p:cNvSpPr/>
          <p:nvPr/>
        </p:nvSpPr>
        <p:spPr>
          <a:xfrm>
            <a:off x="558800" y="1270000"/>
            <a:ext cx="6731000" cy="4902192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391B89ED-DB37-4571-935A-F6E501C82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274462"/>
            <a:ext cx="304800" cy="30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6AAAE3-F22D-4E96-A49E-1AB0B3387A15}"/>
              </a:ext>
            </a:extLst>
          </p:cNvPr>
          <p:cNvSpPr txBox="1"/>
          <p:nvPr/>
        </p:nvSpPr>
        <p:spPr>
          <a:xfrm>
            <a:off x="901700" y="1299862"/>
            <a:ext cx="6350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300">
                <a:solidFill>
                  <a:srgbClr val="505050"/>
                </a:solidFill>
                <a:latin typeface="Malgun Gothic" panose="020B0503020000020004" pitchFamily="50" charset="-127"/>
              </a:rPr>
              <a:t>Private VPC</a:t>
            </a:r>
            <a:endParaRPr lang="ko-KR" altLang="en-US" sz="1300">
              <a:solidFill>
                <a:srgbClr val="50505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AAA9B7-AFBE-4FD1-BAD3-CD65C5F365FA}"/>
              </a:ext>
            </a:extLst>
          </p:cNvPr>
          <p:cNvSpPr/>
          <p:nvPr/>
        </p:nvSpPr>
        <p:spPr>
          <a:xfrm>
            <a:off x="8222172" y="1269999"/>
            <a:ext cx="3334827" cy="4902193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F702F928-F2C2-4209-80A0-B908D1463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4160" y="1274462"/>
            <a:ext cx="304800" cy="304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976EA0-F4A8-40F3-872E-2069DEBAD6B6}"/>
              </a:ext>
            </a:extLst>
          </p:cNvPr>
          <p:cNvSpPr txBox="1"/>
          <p:nvPr/>
        </p:nvSpPr>
        <p:spPr>
          <a:xfrm>
            <a:off x="8544360" y="1299862"/>
            <a:ext cx="254377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1300">
                <a:solidFill>
                  <a:srgbClr val="505050"/>
                </a:solidFill>
                <a:latin typeface="Malgun Gothic" panose="020B0503020000020004" pitchFamily="50" charset="-127"/>
              </a:rPr>
              <a:t>Public VPC</a:t>
            </a:r>
            <a:endParaRPr lang="ko-KR" altLang="en-US" sz="1300">
              <a:solidFill>
                <a:srgbClr val="50505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22C301-252E-45C9-9171-E05FE3548B4E}"/>
              </a:ext>
            </a:extLst>
          </p:cNvPr>
          <p:cNvSpPr/>
          <p:nvPr/>
        </p:nvSpPr>
        <p:spPr>
          <a:xfrm>
            <a:off x="863600" y="1905000"/>
            <a:ext cx="1651000" cy="3779108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1537ED8-B357-4048-811F-F865B8B4EBE6}"/>
              </a:ext>
            </a:extLst>
          </p:cNvPr>
          <p:cNvGrpSpPr/>
          <p:nvPr/>
        </p:nvGrpSpPr>
        <p:grpSpPr>
          <a:xfrm>
            <a:off x="876300" y="1909462"/>
            <a:ext cx="1600200" cy="358825"/>
            <a:chOff x="876300" y="1909462"/>
            <a:chExt cx="1600200" cy="358825"/>
          </a:xfrm>
        </p:grpSpPr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982710A7-E5C9-40AE-BBB8-31255624C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00" y="1909462"/>
              <a:ext cx="304800" cy="304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A06621-5EF9-476F-B9DF-626BE53BF069}"/>
                </a:ext>
              </a:extLst>
            </p:cNvPr>
            <p:cNvSpPr txBox="1"/>
            <p:nvPr/>
          </p:nvSpPr>
          <p:spPr>
            <a:xfrm>
              <a:off x="1206500" y="1934862"/>
              <a:ext cx="1270000" cy="333425"/>
            </a:xfrm>
            <a:prstGeom prst="rect">
              <a:avLst/>
            </a:prstGeom>
            <a:noFill/>
          </p:spPr>
          <p:txBody>
            <a:bodyPr vert="horz" lIns="25400" tIns="12700" rIns="25400" bIns="12700" rtlCol="0">
              <a:spAutoFit/>
            </a:bodyPr>
            <a:lstStyle/>
            <a:p>
              <a:r>
                <a:rPr lang="en-US" altLang="ko-KR" sz="1000">
                  <a:solidFill>
                    <a:srgbClr val="505050"/>
                  </a:solidFill>
                  <a:latin typeface="Malgun Gothic" panose="020B0503020000020004" pitchFamily="50" charset="-127"/>
                </a:rPr>
                <a:t>Private subnet (Ops / PKI)</a:t>
              </a:r>
              <a:endParaRPr lang="ko-KR" altLang="en-US" sz="1000">
                <a:solidFill>
                  <a:srgbClr val="505050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CDB490-F7C4-444F-8D8E-4961654AFCF2}"/>
              </a:ext>
            </a:extLst>
          </p:cNvPr>
          <p:cNvSpPr/>
          <p:nvPr/>
        </p:nvSpPr>
        <p:spPr>
          <a:xfrm>
            <a:off x="2692400" y="1905000"/>
            <a:ext cx="4292600" cy="3779108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5CB15F5-5399-489B-AA59-BD0ADCD31936}"/>
              </a:ext>
            </a:extLst>
          </p:cNvPr>
          <p:cNvGrpSpPr/>
          <p:nvPr/>
        </p:nvGrpSpPr>
        <p:grpSpPr>
          <a:xfrm>
            <a:off x="2705100" y="1909462"/>
            <a:ext cx="4241800" cy="304800"/>
            <a:chOff x="2705100" y="1909462"/>
            <a:chExt cx="4241800" cy="304800"/>
          </a:xfrm>
        </p:grpSpPr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FD1C1D0-EEA2-4F9C-8344-3ECBE4D98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05100" y="1909462"/>
              <a:ext cx="304800" cy="3048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D8130A-B089-47E7-863E-78480B2C56B1}"/>
                </a:ext>
              </a:extLst>
            </p:cNvPr>
            <p:cNvSpPr txBox="1"/>
            <p:nvPr/>
          </p:nvSpPr>
          <p:spPr>
            <a:xfrm>
              <a:off x="3035300" y="1934862"/>
              <a:ext cx="3911600" cy="179536"/>
            </a:xfrm>
            <a:prstGeom prst="rect">
              <a:avLst/>
            </a:prstGeom>
            <a:noFill/>
          </p:spPr>
          <p:txBody>
            <a:bodyPr vert="horz" lIns="25400" tIns="12700" rIns="25400" bIns="12700" rtlCol="0">
              <a:spAutoFit/>
            </a:bodyPr>
            <a:lstStyle/>
            <a:p>
              <a:r>
                <a:rPr lang="en-US" altLang="ko-KR" sz="1000">
                  <a:solidFill>
                    <a:srgbClr val="505050"/>
                  </a:solidFill>
                  <a:latin typeface="Malgun Gothic" panose="020B0503020000020004" pitchFamily="50" charset="-127"/>
                </a:rPr>
                <a:t>Private subnet (NKS / Egress)</a:t>
              </a:r>
              <a:endParaRPr lang="ko-KR" altLang="en-US" sz="1000">
                <a:solidFill>
                  <a:srgbClr val="505050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DD3618-E5B8-4593-9CBF-D9E10F886B85}"/>
              </a:ext>
            </a:extLst>
          </p:cNvPr>
          <p:cNvSpPr/>
          <p:nvPr/>
        </p:nvSpPr>
        <p:spPr>
          <a:xfrm>
            <a:off x="8589321" y="1905000"/>
            <a:ext cx="2311400" cy="3779108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A1357392-4DFE-4126-888C-E810CB8E7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2021" y="1909462"/>
            <a:ext cx="304800" cy="304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5C45572-675B-4AFF-AB21-C2754664B2E5}"/>
              </a:ext>
            </a:extLst>
          </p:cNvPr>
          <p:cNvSpPr txBox="1"/>
          <p:nvPr/>
        </p:nvSpPr>
        <p:spPr>
          <a:xfrm>
            <a:off x="8932221" y="1934862"/>
            <a:ext cx="193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100" dirty="0">
                <a:solidFill>
                  <a:srgbClr val="505050"/>
                </a:solidFill>
                <a:latin typeface="Malgun Gothic" panose="020B0503020000020004" pitchFamily="50" charset="-127"/>
              </a:rPr>
              <a:t>Public subnet</a:t>
            </a:r>
            <a:endParaRPr lang="ko-KR" altLang="en-US" sz="1100" dirty="0">
              <a:solidFill>
                <a:srgbClr val="50505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254433-893B-47C1-91D5-10D7484EBCAE}"/>
              </a:ext>
            </a:extLst>
          </p:cNvPr>
          <p:cNvSpPr/>
          <p:nvPr/>
        </p:nvSpPr>
        <p:spPr>
          <a:xfrm>
            <a:off x="1041400" y="2477549"/>
            <a:ext cx="1295400" cy="2951185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B01F2D8-75BD-4607-84D7-3875EB498B98}"/>
              </a:ext>
            </a:extLst>
          </p:cNvPr>
          <p:cNvGrpSpPr/>
          <p:nvPr/>
        </p:nvGrpSpPr>
        <p:grpSpPr>
          <a:xfrm>
            <a:off x="1045862" y="2490225"/>
            <a:ext cx="304800" cy="304800"/>
            <a:chOff x="6773036" y="4374900"/>
            <a:chExt cx="307568" cy="30457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5921A2D-B78B-4E76-839F-80D6CD2D1B96}"/>
                </a:ext>
              </a:extLst>
            </p:cNvPr>
            <p:cNvSpPr/>
            <p:nvPr/>
          </p:nvSpPr>
          <p:spPr>
            <a:xfrm>
              <a:off x="6776029" y="4374900"/>
              <a:ext cx="304575" cy="304575"/>
            </a:xfrm>
            <a:prstGeom prst="rect">
              <a:avLst/>
            </a:prstGeom>
            <a:solidFill>
              <a:srgbClr val="125C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50F5A580-C873-46A9-BF0D-1B8681FF8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73036" y="4374900"/>
              <a:ext cx="304574" cy="304574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778AE4E-9C99-4CB7-9EBC-BAF4358BBDD0}"/>
              </a:ext>
            </a:extLst>
          </p:cNvPr>
          <p:cNvSpPr txBox="1"/>
          <p:nvPr/>
        </p:nvSpPr>
        <p:spPr>
          <a:xfrm>
            <a:off x="1384300" y="2515626"/>
            <a:ext cx="9144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</a:rPr>
              <a:t>CA Server VM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524991-F93C-4D18-BD60-410EB1F069D6}"/>
              </a:ext>
            </a:extLst>
          </p:cNvPr>
          <p:cNvSpPr/>
          <p:nvPr/>
        </p:nvSpPr>
        <p:spPr>
          <a:xfrm>
            <a:off x="2946400" y="2489199"/>
            <a:ext cx="2082800" cy="2939535"/>
          </a:xfrm>
          <a:prstGeom prst="rect">
            <a:avLst/>
          </a:prstGeom>
          <a:noFill/>
          <a:ln w="12700" cap="sq">
            <a:solidFill>
              <a:srgbClr val="125CE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8BCD28C-2DD9-4A67-A42B-419A52658393}"/>
              </a:ext>
            </a:extLst>
          </p:cNvPr>
          <p:cNvGrpSpPr/>
          <p:nvPr/>
        </p:nvGrpSpPr>
        <p:grpSpPr>
          <a:xfrm>
            <a:off x="2946400" y="2477549"/>
            <a:ext cx="304800" cy="304800"/>
            <a:chOff x="5467491" y="4393285"/>
            <a:chExt cx="304576" cy="305066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CC80CF0-4D27-4E45-AFDC-ED781DECA464}"/>
                </a:ext>
              </a:extLst>
            </p:cNvPr>
            <p:cNvSpPr/>
            <p:nvPr/>
          </p:nvSpPr>
          <p:spPr>
            <a:xfrm>
              <a:off x="5467492" y="4393776"/>
              <a:ext cx="304575" cy="304575"/>
            </a:xfrm>
            <a:prstGeom prst="rect">
              <a:avLst/>
            </a:prstGeom>
            <a:solidFill>
              <a:srgbClr val="125C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75C05B3A-317A-4537-83EF-19BD2AB0D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67491" y="4393285"/>
              <a:ext cx="304573" cy="304573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B506C59-5B7B-4140-8988-2B6D725B28FB}"/>
              </a:ext>
            </a:extLst>
          </p:cNvPr>
          <p:cNvSpPr txBox="1"/>
          <p:nvPr/>
        </p:nvSpPr>
        <p:spPr>
          <a:xfrm>
            <a:off x="3289300" y="2527300"/>
            <a:ext cx="1701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000">
                <a:solidFill>
                  <a:srgbClr val="505050"/>
                </a:solidFill>
                <a:latin typeface="Malgun Gothic" panose="020B0503020000020004" pitchFamily="50" charset="-127"/>
              </a:rPr>
              <a:t>NKS Cluster</a:t>
            </a:r>
            <a:endParaRPr lang="ko-KR" altLang="en-US" sz="1000">
              <a:solidFill>
                <a:srgbClr val="50505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09DDD60-EF2D-4E87-A70C-52AECABFBEC0}"/>
              </a:ext>
            </a:extLst>
          </p:cNvPr>
          <p:cNvGrpSpPr/>
          <p:nvPr/>
        </p:nvGrpSpPr>
        <p:grpSpPr>
          <a:xfrm>
            <a:off x="3206402" y="3772820"/>
            <a:ext cx="1704767" cy="326559"/>
            <a:chOff x="3098799" y="3276600"/>
            <a:chExt cx="1704767" cy="32655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39034B-8CCB-4EF2-BF97-D53455EB7343}"/>
                </a:ext>
              </a:extLst>
            </p:cNvPr>
            <p:cNvSpPr txBox="1"/>
            <p:nvPr/>
          </p:nvSpPr>
          <p:spPr>
            <a:xfrm>
              <a:off x="3098800" y="3276600"/>
              <a:ext cx="1219200" cy="179536"/>
            </a:xfrm>
            <a:prstGeom prst="rect">
              <a:avLst/>
            </a:prstGeom>
            <a:noFill/>
          </p:spPr>
          <p:txBody>
            <a:bodyPr vert="horz" lIns="25400" tIns="12700" rIns="25400" bIns="12700" rtlCol="0">
              <a:spAutoFit/>
            </a:bodyPr>
            <a:lstStyle/>
            <a:p>
              <a:r>
                <a:rPr lang="en-US" altLang="ko-KR" sz="1000" b="1" dirty="0" err="1">
                  <a:solidFill>
                    <a:srgbClr val="2D3137"/>
                  </a:solidFill>
                  <a:latin typeface="Malgun Gothic" panose="020B0503020000020004" pitchFamily="50" charset="-127"/>
                </a:rPr>
                <a:t>NodeGroup</a:t>
              </a:r>
              <a:r>
                <a:rPr lang="en-US" altLang="ko-KR" sz="1000" b="1" dirty="0">
                  <a:solidFill>
                    <a:srgbClr val="2D3137"/>
                  </a:solidFill>
                  <a:latin typeface="Malgun Gothic" panose="020B0503020000020004" pitchFamily="50" charset="-127"/>
                </a:rPr>
                <a:t>-B</a:t>
              </a:r>
              <a:endParaRPr lang="ko-KR" altLang="en-US" sz="1000" b="1" dirty="0">
                <a:solidFill>
                  <a:srgbClr val="2D31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964047-71A0-467B-A040-706806E71377}"/>
                </a:ext>
              </a:extLst>
            </p:cNvPr>
            <p:cNvSpPr txBox="1"/>
            <p:nvPr/>
          </p:nvSpPr>
          <p:spPr>
            <a:xfrm>
              <a:off x="3098799" y="3454400"/>
              <a:ext cx="1704767" cy="148759"/>
            </a:xfrm>
            <a:prstGeom prst="rect">
              <a:avLst/>
            </a:prstGeom>
            <a:noFill/>
          </p:spPr>
          <p:txBody>
            <a:bodyPr vert="horz" wrap="square" lIns="25400" tIns="12700" rIns="25400" bIns="12700" rtlCol="0">
              <a:spAutoFit/>
            </a:bodyPr>
            <a:lstStyle/>
            <a:p>
              <a:r>
                <a:rPr lang="en-US" altLang="ko-KR" sz="800" dirty="0">
                  <a:solidFill>
                    <a:srgbClr val="2D3137"/>
                  </a:solidFill>
                  <a:latin typeface="Malgun Gothic" panose="020B0503020000020004" pitchFamily="50" charset="-127"/>
                </a:rPr>
                <a:t>next hop = VPN Gateway VM</a:t>
              </a:r>
              <a:endParaRPr lang="ko-KR" altLang="en-US" sz="800" dirty="0">
                <a:solidFill>
                  <a:srgbClr val="2D31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3270CA9-5F36-464E-B601-919CE11217C3}"/>
              </a:ext>
            </a:extLst>
          </p:cNvPr>
          <p:cNvGrpSpPr/>
          <p:nvPr/>
        </p:nvGrpSpPr>
        <p:grpSpPr>
          <a:xfrm>
            <a:off x="5283200" y="3561511"/>
            <a:ext cx="1498600" cy="812800"/>
            <a:chOff x="5283200" y="2819400"/>
            <a:chExt cx="1498600" cy="81280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5306674-BE46-49D2-B3E2-8341448807E8}"/>
                </a:ext>
              </a:extLst>
            </p:cNvPr>
            <p:cNvSpPr/>
            <p:nvPr/>
          </p:nvSpPr>
          <p:spPr>
            <a:xfrm>
              <a:off x="5283200" y="2819400"/>
              <a:ext cx="1498600" cy="812800"/>
            </a:xfrm>
            <a:prstGeom prst="rect">
              <a:avLst/>
            </a:prstGeom>
            <a:noFill/>
            <a:ln w="12700">
              <a:solidFill>
                <a:srgbClr val="125C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1012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E66BFB44-8C5A-44EE-AECC-81973A1F6E30}"/>
                </a:ext>
              </a:extLst>
            </p:cNvPr>
            <p:cNvGrpSpPr/>
            <p:nvPr/>
          </p:nvGrpSpPr>
          <p:grpSpPr>
            <a:xfrm>
              <a:off x="5287662" y="2823861"/>
              <a:ext cx="304799" cy="304800"/>
              <a:chOff x="6773036" y="4374900"/>
              <a:chExt cx="307567" cy="304575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43F999E7-16EA-40F7-97AF-7939E28034D7}"/>
                  </a:ext>
                </a:extLst>
              </p:cNvPr>
              <p:cNvSpPr/>
              <p:nvPr/>
            </p:nvSpPr>
            <p:spPr>
              <a:xfrm>
                <a:off x="6776028" y="4374900"/>
                <a:ext cx="304575" cy="304575"/>
              </a:xfrm>
              <a:prstGeom prst="rect">
                <a:avLst/>
              </a:prstGeom>
              <a:solidFill>
                <a:srgbClr val="125CE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033D71C8-6A94-416B-A98A-9186478EA0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73036" y="4374900"/>
                <a:ext cx="304574" cy="304574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5F9FFFC-1BE2-41B9-A152-0C15AA73519C}"/>
                </a:ext>
              </a:extLst>
            </p:cNvPr>
            <p:cNvSpPr txBox="1"/>
            <p:nvPr/>
          </p:nvSpPr>
          <p:spPr>
            <a:xfrm>
              <a:off x="5626100" y="2857500"/>
              <a:ext cx="1117600" cy="179536"/>
            </a:xfrm>
            <a:prstGeom prst="rect">
              <a:avLst/>
            </a:prstGeom>
            <a:noFill/>
          </p:spPr>
          <p:txBody>
            <a:bodyPr vert="horz" lIns="25400" tIns="12700" rIns="25400" bIns="12700" rtlCol="0">
              <a:spAutoFit/>
            </a:bodyPr>
            <a:lstStyle/>
            <a:p>
              <a:r>
                <a:rPr lang="en-US" altLang="ko-KR" sz="1000">
                  <a:solidFill>
                    <a:srgbClr val="505050"/>
                  </a:solidFill>
                  <a:latin typeface="Malgun Gothic" panose="020B0503020000020004" pitchFamily="50" charset="-127"/>
                </a:rPr>
                <a:t>VPN Gateway VM</a:t>
              </a:r>
              <a:endParaRPr lang="ko-KR" altLang="en-US" sz="1000">
                <a:solidFill>
                  <a:srgbClr val="505050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E741E79-5FAF-4054-8426-884A8E329949}"/>
              </a:ext>
            </a:extLst>
          </p:cNvPr>
          <p:cNvSpPr/>
          <p:nvPr/>
        </p:nvSpPr>
        <p:spPr>
          <a:xfrm>
            <a:off x="8868721" y="2478040"/>
            <a:ext cx="1752600" cy="2950694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E9475F-CBBA-48EB-8B8B-9D5C27F29F86}"/>
              </a:ext>
            </a:extLst>
          </p:cNvPr>
          <p:cNvGrpSpPr/>
          <p:nvPr/>
        </p:nvGrpSpPr>
        <p:grpSpPr>
          <a:xfrm>
            <a:off x="8867007" y="2488464"/>
            <a:ext cx="304800" cy="304800"/>
            <a:chOff x="6773036" y="4374900"/>
            <a:chExt cx="307568" cy="304575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5D8BC09-5CE7-4E8A-8522-126EECFBBB39}"/>
                </a:ext>
              </a:extLst>
            </p:cNvPr>
            <p:cNvSpPr/>
            <p:nvPr/>
          </p:nvSpPr>
          <p:spPr>
            <a:xfrm>
              <a:off x="6776029" y="4374900"/>
              <a:ext cx="304575" cy="304575"/>
            </a:xfrm>
            <a:prstGeom prst="rect">
              <a:avLst/>
            </a:prstGeom>
            <a:solidFill>
              <a:srgbClr val="125C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AB90A5D6-6644-4338-B37E-E6E7424DE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73036" y="4374900"/>
              <a:ext cx="304574" cy="304574"/>
            </a:xfrm>
            <a:prstGeom prst="rect">
              <a:avLst/>
            </a:prstGeom>
          </p:spPr>
        </p:pic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800029A-CCDF-4710-83C2-CB08F689F59B}"/>
              </a:ext>
            </a:extLst>
          </p:cNvPr>
          <p:cNvGrpSpPr/>
          <p:nvPr/>
        </p:nvGrpSpPr>
        <p:grpSpPr>
          <a:xfrm>
            <a:off x="7497980" y="2364348"/>
            <a:ext cx="508000" cy="453553"/>
            <a:chOff x="7242175" y="3233740"/>
            <a:chExt cx="508000" cy="453553"/>
          </a:xfrm>
        </p:grpSpPr>
        <p:pic>
          <p:nvPicPr>
            <p:cNvPr id="56" name="Image 10" descr=" ">
              <a:extLst>
                <a:ext uri="{FF2B5EF4-FFF2-40B4-BE49-F238E27FC236}">
                  <a16:creationId xmlns:a16="http://schemas.microsoft.com/office/drawing/2014/main" id="{352FECF6-833F-47AB-A2B8-741CCDDF8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61071" y="3233740"/>
              <a:ext cx="279435" cy="279400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689ED92-0134-4582-8D45-235FE11D59B9}"/>
                </a:ext>
              </a:extLst>
            </p:cNvPr>
            <p:cNvSpPr txBox="1"/>
            <p:nvPr/>
          </p:nvSpPr>
          <p:spPr>
            <a:xfrm>
              <a:off x="7242175" y="3523145"/>
              <a:ext cx="508000" cy="164148"/>
            </a:xfrm>
            <a:prstGeom prst="rect">
              <a:avLst/>
            </a:prstGeom>
            <a:noFill/>
          </p:spPr>
          <p:txBody>
            <a:bodyPr vert="horz" lIns="25400" tIns="12700" rIns="25400" bIns="12700" rtlCol="0">
              <a:spAutoFit/>
            </a:bodyPr>
            <a:lstStyle/>
            <a:p>
              <a:pPr algn="ctr"/>
              <a:r>
                <a:rPr lang="en-US" altLang="ko-KR" sz="900" dirty="0">
                  <a:latin typeface="Malgun Gothic" panose="020B0503020000020004" pitchFamily="50" charset="-127"/>
                </a:rPr>
                <a:t>Peering</a:t>
              </a:r>
              <a:endParaRPr lang="ko-KR" altLang="en-US" sz="900" dirty="0">
                <a:latin typeface="Malgun Gothic" panose="020B0503020000020004" pitchFamily="50" charset="-127"/>
              </a:endParaRPr>
            </a:p>
          </p:txBody>
        </p:sp>
      </p:grp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7A03251-F074-4CD8-8283-6AD06448ED37}"/>
              </a:ext>
            </a:extLst>
          </p:cNvPr>
          <p:cNvCxnSpPr>
            <a:cxnSpLocks/>
          </p:cNvCxnSpPr>
          <p:nvPr/>
        </p:nvCxnSpPr>
        <p:spPr>
          <a:xfrm>
            <a:off x="5029200" y="2984500"/>
            <a:ext cx="3839521" cy="0"/>
          </a:xfrm>
          <a:prstGeom prst="line">
            <a:avLst/>
          </a:prstGeom>
          <a:ln w="26670">
            <a:solidFill>
              <a:srgbClr val="F37E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6E0E3BB-02B5-4834-8588-B88CE256A790}"/>
              </a:ext>
            </a:extLst>
          </p:cNvPr>
          <p:cNvSpPr txBox="1"/>
          <p:nvPr/>
        </p:nvSpPr>
        <p:spPr>
          <a:xfrm>
            <a:off x="6248400" y="2819400"/>
            <a:ext cx="431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37E20"/>
                </a:solidFill>
                <a:latin typeface="Malgun Gothic" panose="020B0503020000020004" pitchFamily="50" charset="-127"/>
              </a:rPr>
              <a:t>NG-A</a:t>
            </a:r>
            <a:endParaRPr lang="ko-KR" altLang="en-US" sz="1000" b="1">
              <a:solidFill>
                <a:srgbClr val="F37E2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645695D-6F27-4172-96DE-A5602D61C980}"/>
              </a:ext>
            </a:extLst>
          </p:cNvPr>
          <p:cNvCxnSpPr>
            <a:cxnSpLocks/>
          </p:cNvCxnSpPr>
          <p:nvPr/>
        </p:nvCxnSpPr>
        <p:spPr>
          <a:xfrm>
            <a:off x="5029200" y="3825794"/>
            <a:ext cx="240463" cy="0"/>
          </a:xfrm>
          <a:prstGeom prst="line">
            <a:avLst/>
          </a:prstGeom>
          <a:ln w="2667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480E716-2E89-4B99-B64A-A095445C6A65}"/>
              </a:ext>
            </a:extLst>
          </p:cNvPr>
          <p:cNvCxnSpPr>
            <a:cxnSpLocks/>
          </p:cNvCxnSpPr>
          <p:nvPr/>
        </p:nvCxnSpPr>
        <p:spPr>
          <a:xfrm flipV="1">
            <a:off x="6783945" y="3825794"/>
            <a:ext cx="2084776" cy="3487"/>
          </a:xfrm>
          <a:prstGeom prst="line">
            <a:avLst/>
          </a:prstGeom>
          <a:ln w="2667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672F4B2-6FB5-40E1-ADCC-25EB075D921C}"/>
              </a:ext>
            </a:extLst>
          </p:cNvPr>
          <p:cNvSpPr txBox="1"/>
          <p:nvPr/>
        </p:nvSpPr>
        <p:spPr>
          <a:xfrm>
            <a:off x="6113936" y="3424591"/>
            <a:ext cx="6858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206BFF"/>
                </a:solidFill>
                <a:latin typeface="Malgun Gothic" panose="020B0503020000020004" pitchFamily="50" charset="-127"/>
              </a:rPr>
              <a:t>NG-B route</a:t>
            </a:r>
            <a:endParaRPr lang="ko-KR" altLang="en-US" sz="800" b="1" dirty="0">
              <a:solidFill>
                <a:srgbClr val="206B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FCF1209-C515-4A7B-AFD0-F94CB602B182}"/>
              </a:ext>
            </a:extLst>
          </p:cNvPr>
          <p:cNvCxnSpPr>
            <a:cxnSpLocks/>
          </p:cNvCxnSpPr>
          <p:nvPr/>
        </p:nvCxnSpPr>
        <p:spPr>
          <a:xfrm flipV="1">
            <a:off x="5037212" y="4818347"/>
            <a:ext cx="3831509" cy="8873"/>
          </a:xfrm>
          <a:prstGeom prst="line">
            <a:avLst/>
          </a:prstGeom>
          <a:ln w="26670">
            <a:solidFill>
              <a:srgbClr val="2AA6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6667F1-E8D4-49D0-9960-2816238C5C04}"/>
              </a:ext>
            </a:extLst>
          </p:cNvPr>
          <p:cNvSpPr txBox="1"/>
          <p:nvPr/>
        </p:nvSpPr>
        <p:spPr>
          <a:xfrm>
            <a:off x="6259338" y="4640547"/>
            <a:ext cx="431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2AA65F"/>
                </a:solidFill>
                <a:latin typeface="Malgun Gothic" panose="020B0503020000020004" pitchFamily="50" charset="-127"/>
              </a:rPr>
              <a:t>NG-C</a:t>
            </a:r>
            <a:endParaRPr lang="ko-KR" altLang="en-US" sz="1000" b="1" dirty="0">
              <a:solidFill>
                <a:srgbClr val="2AA65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BC40C02-8C8A-483A-A84D-587CDE4989EF}"/>
              </a:ext>
            </a:extLst>
          </p:cNvPr>
          <p:cNvCxnSpPr>
            <a:cxnSpLocks/>
          </p:cNvCxnSpPr>
          <p:nvPr/>
        </p:nvCxnSpPr>
        <p:spPr>
          <a:xfrm flipV="1">
            <a:off x="10215482" y="1455304"/>
            <a:ext cx="0" cy="1007178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4702E87-DCEE-4B34-85A8-908B599FB301}"/>
              </a:ext>
            </a:extLst>
          </p:cNvPr>
          <p:cNvGrpSpPr/>
          <p:nvPr/>
        </p:nvGrpSpPr>
        <p:grpSpPr>
          <a:xfrm>
            <a:off x="1188279" y="3650876"/>
            <a:ext cx="992579" cy="637389"/>
            <a:chOff x="1576128" y="4895433"/>
            <a:chExt cx="992579" cy="63738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EACC750-7D17-46B4-8308-762D94EA30E2}"/>
                </a:ext>
              </a:extLst>
            </p:cNvPr>
            <p:cNvSpPr txBox="1"/>
            <p:nvPr/>
          </p:nvSpPr>
          <p:spPr>
            <a:xfrm>
              <a:off x="1576128" y="5301990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D3137"/>
                  </a:solidFill>
                  <a:latin typeface="Malgun Gothic" panose="020B0503020000020004" pitchFamily="50" charset="-127"/>
                </a:rPr>
                <a:t>Easy-RSA / CRL</a:t>
              </a:r>
              <a:endParaRPr lang="ko-KR" altLang="en-US" sz="900" dirty="0">
                <a:solidFill>
                  <a:srgbClr val="2D3137"/>
                </a:solidFill>
                <a:latin typeface="Malgun Gothic" panose="020B0503020000020004" pitchFamily="50" charset="-127"/>
              </a:endParaRPr>
            </a:p>
          </p:txBody>
        </p:sp>
        <p:pic>
          <p:nvPicPr>
            <p:cNvPr id="70" name="그래픽 69">
              <a:extLst>
                <a:ext uri="{FF2B5EF4-FFF2-40B4-BE49-F238E27FC236}">
                  <a16:creationId xmlns:a16="http://schemas.microsoft.com/office/drawing/2014/main" id="{212327EC-81C9-47ED-8FF9-B69EBAF63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38418" y="4895433"/>
              <a:ext cx="468000" cy="46800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2EB64B1-75F0-4ED3-ACDF-405898D303C7}"/>
              </a:ext>
            </a:extLst>
          </p:cNvPr>
          <p:cNvSpPr txBox="1"/>
          <p:nvPr/>
        </p:nvSpPr>
        <p:spPr>
          <a:xfrm>
            <a:off x="9113932" y="2487597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505050"/>
                </a:solidFill>
                <a:latin typeface="Malgun Gothic" panose="020B0503020000020004" pitchFamily="50" charset="-127"/>
              </a:rPr>
              <a:t>OpenVPN Server Instance</a:t>
            </a:r>
            <a:endParaRPr lang="ko-KR" altLang="en-US" sz="900" dirty="0">
              <a:solidFill>
                <a:srgbClr val="50505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493DC052-9759-4F99-8619-058DD9293525}"/>
              </a:ext>
            </a:extLst>
          </p:cNvPr>
          <p:cNvGrpSpPr/>
          <p:nvPr/>
        </p:nvGrpSpPr>
        <p:grpSpPr>
          <a:xfrm>
            <a:off x="10015441" y="1073238"/>
            <a:ext cx="962217" cy="393522"/>
            <a:chOff x="2773980" y="2692137"/>
            <a:chExt cx="962217" cy="393522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3BF78AD-8269-44FA-BD8B-AA5406ED17CF}"/>
                </a:ext>
              </a:extLst>
            </p:cNvPr>
            <p:cNvSpPr txBox="1"/>
            <p:nvPr/>
          </p:nvSpPr>
          <p:spPr>
            <a:xfrm>
              <a:off x="3096278" y="2704871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Internet</a:t>
              </a:r>
            </a:p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Gateway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4" name="그림 134">
              <a:extLst>
                <a:ext uri="{FF2B5EF4-FFF2-40B4-BE49-F238E27FC236}">
                  <a16:creationId xmlns:a16="http://schemas.microsoft.com/office/drawing/2014/main" id="{6C191795-F27D-4D72-BB27-97C7B3A9C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773980" y="2692137"/>
              <a:ext cx="400082" cy="393522"/>
            </a:xfrm>
            <a:prstGeom prst="rect">
              <a:avLst/>
            </a:prstGeom>
          </p:spPr>
        </p:pic>
      </p:grpSp>
      <p:cxnSp>
        <p:nvCxnSpPr>
          <p:cNvPr id="101" name="직선 연결선[R] 2">
            <a:extLst>
              <a:ext uri="{FF2B5EF4-FFF2-40B4-BE49-F238E27FC236}">
                <a16:creationId xmlns:a16="http://schemas.microsoft.com/office/drawing/2014/main" id="{84975EA2-8656-458B-BFC4-BCA322AD5396}"/>
              </a:ext>
            </a:extLst>
          </p:cNvPr>
          <p:cNvCxnSpPr>
            <a:cxnSpLocks/>
            <a:stCxn id="47" idx="2"/>
            <a:endCxn id="22" idx="2"/>
          </p:cNvCxnSpPr>
          <p:nvPr/>
        </p:nvCxnSpPr>
        <p:spPr>
          <a:xfrm rot="5400000">
            <a:off x="5717061" y="1400774"/>
            <a:ext cx="12700" cy="8055921"/>
          </a:xfrm>
          <a:prstGeom prst="bentConnector3">
            <a:avLst>
              <a:gd name="adj1" fmla="val 3745945"/>
            </a:avLst>
          </a:prstGeom>
          <a:ln w="15875">
            <a:solidFill>
              <a:srgbClr val="555555"/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1FB0F18A-9647-4458-972C-2C88E5724008}"/>
              </a:ext>
            </a:extLst>
          </p:cNvPr>
          <p:cNvGrpSpPr/>
          <p:nvPr/>
        </p:nvGrpSpPr>
        <p:grpSpPr>
          <a:xfrm>
            <a:off x="9256250" y="3817718"/>
            <a:ext cx="1064715" cy="532387"/>
            <a:chOff x="9256250" y="3817718"/>
            <a:chExt cx="1064715" cy="532387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8B6FF81-1F4C-4409-823B-E1E1E6DCB7A1}"/>
                </a:ext>
              </a:extLst>
            </p:cNvPr>
            <p:cNvSpPr txBox="1"/>
            <p:nvPr/>
          </p:nvSpPr>
          <p:spPr>
            <a:xfrm>
              <a:off x="9256250" y="4119273"/>
              <a:ext cx="10647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D3137"/>
                  </a:solidFill>
                  <a:latin typeface="Malgun Gothic" panose="020B0503020000020004" pitchFamily="50" charset="-127"/>
                </a:rPr>
                <a:t>OpenVPN Server</a:t>
              </a:r>
            </a:p>
          </p:txBody>
        </p:sp>
        <p:pic>
          <p:nvPicPr>
            <p:cNvPr id="114" name="Google Shape;739;p24">
              <a:extLst>
                <a:ext uri="{FF2B5EF4-FFF2-40B4-BE49-F238E27FC236}">
                  <a16:creationId xmlns:a16="http://schemas.microsoft.com/office/drawing/2014/main" id="{00103D71-A541-4903-8E89-35D73CFF2D1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9641581" y="3817718"/>
              <a:ext cx="294048" cy="27614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FFFFFF">
                  <a:alpha val="50000"/>
                </a:srgbClr>
              </a:outerShdw>
            </a:effectLst>
          </p:spPr>
        </p:pic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5AFFBD7-B2D0-419D-8C13-E136E6994967}"/>
              </a:ext>
            </a:extLst>
          </p:cNvPr>
          <p:cNvGrpSpPr/>
          <p:nvPr/>
        </p:nvGrpSpPr>
        <p:grpSpPr>
          <a:xfrm>
            <a:off x="5509683" y="3865450"/>
            <a:ext cx="1042273" cy="506668"/>
            <a:chOff x="5509683" y="3903550"/>
            <a:chExt cx="1042273" cy="506668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18073B-A774-4B0C-A38C-0B123A365CC7}"/>
                </a:ext>
              </a:extLst>
            </p:cNvPr>
            <p:cNvSpPr txBox="1"/>
            <p:nvPr/>
          </p:nvSpPr>
          <p:spPr>
            <a:xfrm>
              <a:off x="5509683" y="4179386"/>
              <a:ext cx="10422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2D3137"/>
                  </a:solidFill>
                  <a:latin typeface="Malgun Gothic" panose="020B0503020000020004" pitchFamily="50" charset="-127"/>
                </a:rPr>
                <a:t>OpenVPN Client</a:t>
              </a:r>
              <a:endParaRPr lang="ko-KR" altLang="en-US" sz="900" dirty="0">
                <a:solidFill>
                  <a:srgbClr val="2D3137"/>
                </a:solidFill>
                <a:latin typeface="Malgun Gothic" panose="020B0503020000020004" pitchFamily="50" charset="-127"/>
              </a:endParaRPr>
            </a:p>
          </p:txBody>
        </p:sp>
        <p:pic>
          <p:nvPicPr>
            <p:cNvPr id="116" name="Google Shape;739;p24">
              <a:extLst>
                <a:ext uri="{FF2B5EF4-FFF2-40B4-BE49-F238E27FC236}">
                  <a16:creationId xmlns:a16="http://schemas.microsoft.com/office/drawing/2014/main" id="{FA154286-FDCE-4CE8-9102-73EAD1180CF7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5883795" y="3903550"/>
              <a:ext cx="294048" cy="27614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FFFFFF">
                  <a:alpha val="50000"/>
                </a:srgbClr>
              </a:outerShdw>
            </a:effectLst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86692EA4-71A5-4D02-AD50-00CC8F3DD1FB}"/>
              </a:ext>
            </a:extLst>
          </p:cNvPr>
          <p:cNvGrpSpPr/>
          <p:nvPr/>
        </p:nvGrpSpPr>
        <p:grpSpPr>
          <a:xfrm>
            <a:off x="3206402" y="4659183"/>
            <a:ext cx="1422400" cy="346023"/>
            <a:chOff x="3206745" y="4754433"/>
            <a:chExt cx="1422400" cy="346023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D321890D-A9FD-4F23-9233-DDC125AD09AE}"/>
                </a:ext>
              </a:extLst>
            </p:cNvPr>
            <p:cNvGrpSpPr/>
            <p:nvPr/>
          </p:nvGrpSpPr>
          <p:grpSpPr>
            <a:xfrm>
              <a:off x="3206745" y="4773897"/>
              <a:ext cx="1422400" cy="326559"/>
              <a:chOff x="3206745" y="4773897"/>
              <a:chExt cx="1422400" cy="326559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E2689A-91F9-42E7-A052-30FC0D2C0D09}"/>
                  </a:ext>
                </a:extLst>
              </p:cNvPr>
              <p:cNvSpPr txBox="1"/>
              <p:nvPr/>
            </p:nvSpPr>
            <p:spPr>
              <a:xfrm>
                <a:off x="3206745" y="4773897"/>
                <a:ext cx="1219200" cy="179536"/>
              </a:xfrm>
              <a:prstGeom prst="rect">
                <a:avLst/>
              </a:prstGeom>
              <a:noFill/>
            </p:spPr>
            <p:txBody>
              <a:bodyPr vert="horz" lIns="25400" tIns="12700" rIns="25400" bIns="12700" rtlCol="0">
                <a:spAutoFit/>
              </a:bodyPr>
              <a:lstStyle/>
              <a:p>
                <a:r>
                  <a:rPr lang="en-US" altLang="ko-KR" sz="1000" b="1" dirty="0" err="1">
                    <a:solidFill>
                      <a:srgbClr val="2D3137"/>
                    </a:solidFill>
                    <a:latin typeface="Malgun Gothic" panose="020B0503020000020004" pitchFamily="50" charset="-127"/>
                  </a:rPr>
                  <a:t>NodeGroup</a:t>
                </a:r>
                <a:r>
                  <a:rPr lang="en-US" altLang="ko-KR" sz="1000" b="1" dirty="0">
                    <a:solidFill>
                      <a:srgbClr val="2D3137"/>
                    </a:solidFill>
                    <a:latin typeface="Malgun Gothic" panose="020B0503020000020004" pitchFamily="50" charset="-127"/>
                  </a:rPr>
                  <a:t>-C</a:t>
                </a:r>
                <a:endParaRPr lang="ko-KR" altLang="en-US" sz="1000" b="1" dirty="0">
                  <a:solidFill>
                    <a:srgbClr val="2D31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79C0F3-1CA2-4778-B42B-4975FE7D9C8D}"/>
                  </a:ext>
                </a:extLst>
              </p:cNvPr>
              <p:cNvSpPr txBox="1"/>
              <p:nvPr/>
            </p:nvSpPr>
            <p:spPr>
              <a:xfrm>
                <a:off x="3206745" y="4951697"/>
                <a:ext cx="1422400" cy="148759"/>
              </a:xfrm>
              <a:prstGeom prst="rect">
                <a:avLst/>
              </a:prstGeom>
              <a:noFill/>
            </p:spPr>
            <p:txBody>
              <a:bodyPr vert="horz" lIns="25400" tIns="12700" rIns="25400" bIns="12700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2D3137"/>
                    </a:solidFill>
                    <a:latin typeface="Malgun Gothic" panose="020B0503020000020004" pitchFamily="50" charset="-127"/>
                  </a:rPr>
                  <a:t>pod sidecar client</a:t>
                </a:r>
                <a:endParaRPr lang="ko-KR" altLang="en-US" sz="800" dirty="0">
                  <a:solidFill>
                    <a:srgbClr val="2D3137"/>
                  </a:solidFill>
                  <a:latin typeface="Malgun Gothic" panose="020B0503020000020004" pitchFamily="50" charset="-127"/>
                </a:endParaRPr>
              </a:p>
            </p:txBody>
          </p:sp>
        </p:grp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88BCE6F-5158-4314-8479-9AAA08D4DA85}"/>
                </a:ext>
              </a:extLst>
            </p:cNvPr>
            <p:cNvGrpSpPr/>
            <p:nvPr/>
          </p:nvGrpSpPr>
          <p:grpSpPr>
            <a:xfrm>
              <a:off x="4110297" y="4754433"/>
              <a:ext cx="320434" cy="310994"/>
              <a:chOff x="4110297" y="4754433"/>
              <a:chExt cx="320434" cy="310994"/>
            </a:xfrm>
          </p:grpSpPr>
          <p:pic>
            <p:nvPicPr>
              <p:cNvPr id="113" name="Image 4">
                <a:extLst>
                  <a:ext uri="{FF2B5EF4-FFF2-40B4-BE49-F238E27FC236}">
                    <a16:creationId xmlns:a16="http://schemas.microsoft.com/office/drawing/2014/main" id="{FA3B1A8F-2A90-4617-8146-E1973B934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91621" y="4826317"/>
                <a:ext cx="239110" cy="239110"/>
              </a:xfrm>
              <a:prstGeom prst="rect">
                <a:avLst/>
              </a:prstGeom>
            </p:spPr>
          </p:pic>
          <p:pic>
            <p:nvPicPr>
              <p:cNvPr id="118" name="Google Shape;739;p24">
                <a:extLst>
                  <a:ext uri="{FF2B5EF4-FFF2-40B4-BE49-F238E27FC236}">
                    <a16:creationId xmlns:a16="http://schemas.microsoft.com/office/drawing/2014/main" id="{2CD69CF5-A7E8-4C6D-B673-347DDC4DBE14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4110297" y="4754433"/>
                <a:ext cx="173683" cy="163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FFFFFF">
                    <a:alpha val="50000"/>
                  </a:srgbClr>
                </a:outerShdw>
              </a:effectLst>
            </p:spPr>
          </p:pic>
        </p:grp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F48D05E1-D894-4581-AE2B-ACB4E2538182}"/>
              </a:ext>
            </a:extLst>
          </p:cNvPr>
          <p:cNvGrpSpPr/>
          <p:nvPr/>
        </p:nvGrpSpPr>
        <p:grpSpPr>
          <a:xfrm>
            <a:off x="3206402" y="2790933"/>
            <a:ext cx="1422400" cy="422082"/>
            <a:chOff x="3220475" y="2771883"/>
            <a:chExt cx="1422400" cy="422082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DACC6C19-83F0-47BD-A108-3FA1D59355AE}"/>
                </a:ext>
              </a:extLst>
            </p:cNvPr>
            <p:cNvGrpSpPr/>
            <p:nvPr/>
          </p:nvGrpSpPr>
          <p:grpSpPr>
            <a:xfrm>
              <a:off x="3220475" y="2867406"/>
              <a:ext cx="1422400" cy="326559"/>
              <a:chOff x="3098800" y="2819400"/>
              <a:chExt cx="1422400" cy="326559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0576D4-D7B1-47AB-B374-671252F0F33C}"/>
                  </a:ext>
                </a:extLst>
              </p:cNvPr>
              <p:cNvSpPr txBox="1"/>
              <p:nvPr/>
            </p:nvSpPr>
            <p:spPr>
              <a:xfrm>
                <a:off x="3098800" y="2819400"/>
                <a:ext cx="1219200" cy="179536"/>
              </a:xfrm>
              <a:prstGeom prst="rect">
                <a:avLst/>
              </a:prstGeom>
              <a:noFill/>
            </p:spPr>
            <p:txBody>
              <a:bodyPr vert="horz" lIns="25400" tIns="12700" rIns="25400" bIns="12700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2D3137"/>
                    </a:solidFill>
                    <a:latin typeface="Malgun Gothic" panose="020B0503020000020004" pitchFamily="50" charset="-127"/>
                  </a:rPr>
                  <a:t>NodeGroup-A</a:t>
                </a:r>
                <a:endParaRPr lang="ko-KR" altLang="en-US" sz="1000" b="1">
                  <a:solidFill>
                    <a:srgbClr val="2D31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4C184FD-BA0D-4603-864D-6987EE6E9A59}"/>
                  </a:ext>
                </a:extLst>
              </p:cNvPr>
              <p:cNvSpPr txBox="1"/>
              <p:nvPr/>
            </p:nvSpPr>
            <p:spPr>
              <a:xfrm>
                <a:off x="3098800" y="2997200"/>
                <a:ext cx="1422400" cy="148759"/>
              </a:xfrm>
              <a:prstGeom prst="rect">
                <a:avLst/>
              </a:prstGeom>
              <a:noFill/>
            </p:spPr>
            <p:txBody>
              <a:bodyPr vert="horz" lIns="25400" tIns="12700" rIns="25400" bIns="12700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2D3137"/>
                    </a:solidFill>
                    <a:latin typeface="Malgun Gothic" panose="020B0503020000020004" pitchFamily="50" charset="-127"/>
                  </a:rPr>
                  <a:t>worker node OpenVPN client</a:t>
                </a:r>
                <a:endParaRPr lang="ko-KR" altLang="en-US" sz="800" dirty="0">
                  <a:solidFill>
                    <a:srgbClr val="2D3137"/>
                  </a:solidFill>
                  <a:latin typeface="Malgun Gothic" panose="020B0503020000020004" pitchFamily="50" charset="-127"/>
                </a:endParaRPr>
              </a:p>
            </p:txBody>
          </p:sp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8F5661E4-8B42-4299-AC4E-13915B0BCD31}"/>
                </a:ext>
              </a:extLst>
            </p:cNvPr>
            <p:cNvGrpSpPr/>
            <p:nvPr/>
          </p:nvGrpSpPr>
          <p:grpSpPr>
            <a:xfrm>
              <a:off x="4120030" y="2771883"/>
              <a:ext cx="283505" cy="295873"/>
              <a:chOff x="4053355" y="2771883"/>
              <a:chExt cx="283505" cy="295873"/>
            </a:xfrm>
          </p:grpSpPr>
          <p:pic>
            <p:nvPicPr>
              <p:cNvPr id="111" name="Image 1" descr=" ">
                <a:extLst>
                  <a:ext uri="{FF2B5EF4-FFF2-40B4-BE49-F238E27FC236}">
                    <a16:creationId xmlns:a16="http://schemas.microsoft.com/office/drawing/2014/main" id="{59CD11C8-31E1-48C3-BAAE-5D8B8691D1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105314" y="2836238"/>
                <a:ext cx="231546" cy="231518"/>
              </a:xfrm>
              <a:prstGeom prst="rect">
                <a:avLst/>
              </a:prstGeom>
            </p:spPr>
          </p:pic>
          <p:pic>
            <p:nvPicPr>
              <p:cNvPr id="119" name="Google Shape;739;p24">
                <a:extLst>
                  <a:ext uri="{FF2B5EF4-FFF2-40B4-BE49-F238E27FC236}">
                    <a16:creationId xmlns:a16="http://schemas.microsoft.com/office/drawing/2014/main" id="{F402D51F-AB19-44F2-8E43-1A0C5FECD6A4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4053355" y="2771883"/>
                <a:ext cx="173683" cy="163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FFFFFF">
                    <a:alpha val="50000"/>
                  </a:srgbClr>
                </a:outerShdw>
              </a:effectLst>
            </p:spPr>
          </p:pic>
        </p:grpSp>
      </p:grpSp>
      <p:pic>
        <p:nvPicPr>
          <p:cNvPr id="127" name="Image 1" descr=" ">
            <a:extLst>
              <a:ext uri="{FF2B5EF4-FFF2-40B4-BE49-F238E27FC236}">
                <a16:creationId xmlns:a16="http://schemas.microsoft.com/office/drawing/2014/main" id="{F925A19B-8985-44E4-8545-18E9B48F13A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02852" y="2155366"/>
            <a:ext cx="380717" cy="3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1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40232</TotalTime>
  <Words>69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Pretendard Medium</vt:lpstr>
      <vt:lpstr>맑은 고딕</vt:lpstr>
      <vt:lpstr>맑은 고딕</vt:lpstr>
      <vt:lpstr>Arial</vt:lpstr>
      <vt:lpstr>Calibri</vt:lpstr>
      <vt:lpstr>Calibri Light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신기호</cp:lastModifiedBy>
  <cp:revision>938</cp:revision>
  <dcterms:created xsi:type="dcterms:W3CDTF">2024-11-04T08:49:16Z</dcterms:created>
  <dcterms:modified xsi:type="dcterms:W3CDTF">2026-04-02T23:45:29Z</dcterms:modified>
</cp:coreProperties>
</file>